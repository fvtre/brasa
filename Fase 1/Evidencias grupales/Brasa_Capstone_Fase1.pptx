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hJr3jp20pFg4jH+AL7CiPitWlZ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970A3E-6280-4317-A529-484B4F694370}">
  <a:tblStyle styleId="{1C970A3E-6280-4317-A529-484B4F69437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9f07a6f6b_0_143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1" name="Google Shape;11;g3f9f07a6f6b_0_143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2" name="Google Shape;12;g3f9f07a6f6b_0_1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f9f07a6f6b_0_147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g3f9f07a6f6b_0_1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9f07a6f6b_0_15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g3f9f07a6f6b_0_15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" name="Google Shape;19;g3f9f07a6f6b_0_1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9f07a6f6b_0_15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g3f9f07a6f6b_0_154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3" name="Google Shape;23;g3f9f07a6f6b_0_154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g3f9f07a6f6b_0_1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9f07a6f6b_0_15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7" name="Google Shape;27;g3f9f07a6f6b_0_1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9f07a6f6b_0_162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0" name="Google Shape;30;g3f9f07a6f6b_0_162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g3f9f07a6f6b_0_16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9f07a6f6b_0_166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4" name="Google Shape;34;g3f9f07a6f6b_0_1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f9f07a6f6b_0_16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f9f07a6f6b_0_16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8" name="Google Shape;38;g3f9f07a6f6b_0_16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g3f9f07a6f6b_0_16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0" name="Google Shape;40;g3f9f07a6f6b_0_16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9f07a6f6b_0_175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3" name="Google Shape;43;g3f9f07a6f6b_0_17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9f07a6f6b_0_178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g3f9f07a6f6b_0_178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7" name="Google Shape;47;g3f9f07a6f6b_0_1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9f07a6f6b_0_18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9f07a6f6b_0_13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g3f9f07a6f6b_0_13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g3f9f07a6f6b_0_1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png"/><Relationship Id="rId10" Type="http://schemas.openxmlformats.org/officeDocument/2006/relationships/image" Target="../media/image7.png"/><Relationship Id="rId13" Type="http://schemas.openxmlformats.org/officeDocument/2006/relationships/image" Target="../media/image11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9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o-event-v2.png"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0D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100D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rasa-meta-icon-1024.png"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56692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1353312" y="69494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59" name="Google Shape;59;p1"/>
          <p:cNvSpPr/>
          <p:nvPr/>
        </p:nvSpPr>
        <p:spPr>
          <a:xfrm>
            <a:off x="658368" y="1426464"/>
            <a:ext cx="2286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PRESENTACIÓN EJECUTIVA</a:t>
            </a:r>
            <a:endParaRPr/>
          </a:p>
        </p:txBody>
      </p:sp>
      <p:sp>
        <p:nvSpPr>
          <p:cNvPr id="60" name="Google Shape;60;p1"/>
          <p:cNvSpPr txBox="1"/>
          <p:nvPr/>
        </p:nvSpPr>
        <p:spPr>
          <a:xfrm>
            <a:off x="658368" y="201168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Planifica. Compara.</a:t>
            </a:r>
            <a:br>
              <a:rPr b="1" i="0" lang="en-US" sz="30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Celebra sin fricción.</a:t>
            </a:r>
            <a:endParaRPr/>
          </a:p>
        </p:txBody>
      </p:sp>
      <p:sp>
        <p:nvSpPr>
          <p:cNvPr id="61" name="Google Shape;61;p1"/>
          <p:cNvSpPr txBox="1"/>
          <p:nvPr/>
        </p:nvSpPr>
        <p:spPr>
          <a:xfrm>
            <a:off x="685800" y="3493008"/>
            <a:ext cx="544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BDAEA6"/>
                </a:solidFill>
              </a:rPr>
              <a:t>Simplificamos la organización de eventos conectando clientes y prestadores en una experiencia clara, confiable y trazable.</a:t>
            </a:r>
            <a:endParaRPr/>
          </a:p>
        </p:txBody>
      </p:sp>
      <p:sp>
        <p:nvSpPr>
          <p:cNvPr id="62" name="Google Shape;62;p1"/>
          <p:cNvSpPr txBox="1"/>
          <p:nvPr/>
        </p:nvSpPr>
        <p:spPr>
          <a:xfrm>
            <a:off x="685800" y="480060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</a:t>
            </a:r>
            <a:endParaRPr/>
          </a:p>
        </p:txBody>
      </p:sp>
      <p:sp>
        <p:nvSpPr>
          <p:cNvPr id="63" name="Google Shape;63;p1"/>
          <p:cNvSpPr txBox="1"/>
          <p:nvPr/>
        </p:nvSpPr>
        <p:spPr>
          <a:xfrm>
            <a:off x="685800" y="5285232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Duoc UC · Sede Puente Alto · 2026</a:t>
            </a:r>
            <a:br>
              <a:rPr b="0" i="0" lang="en-US" sz="10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Docente: Fabián Saldaño Pérez</a:t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685800" y="6016752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Adriano Lecaros Duque · Bernardita Rivas Salinas · Felipe Molina Escobar</a:t>
            </a:r>
            <a:endParaRPr/>
          </a:p>
        </p:txBody>
      </p:sp>
      <p:pic>
        <p:nvPicPr>
          <p:cNvPr descr="duoc-logo.png" id="65" name="Google Shape;6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384048"/>
            <a:ext cx="2377440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1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/>
          </a:p>
        </p:txBody>
      </p:sp>
      <p:sp>
        <p:nvSpPr>
          <p:cNvPr id="73" name="Google Shape;73;p2"/>
          <p:cNvSpPr txBox="1"/>
          <p:nvPr/>
        </p:nvSpPr>
        <p:spPr>
          <a:xfrm>
            <a:off x="566928" y="941832"/>
            <a:ext cx="108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8F3"/>
                </a:solidFill>
              </a:rPr>
              <a:t>Tabla de contenido</a:t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76" name="Google Shape;76;p2"/>
          <p:cNvSpPr txBox="1"/>
          <p:nvPr/>
        </p:nvSpPr>
        <p:spPr>
          <a:xfrm>
            <a:off x="11064240" y="646480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1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658368" y="1847088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78" name="Google Shape;78;p2"/>
          <p:cNvSpPr txBox="1"/>
          <p:nvPr/>
        </p:nvSpPr>
        <p:spPr>
          <a:xfrm>
            <a:off x="1371600" y="1901952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Portada</a:t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58368" y="2386584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80" name="Google Shape;80;p2"/>
          <p:cNvSpPr txBox="1"/>
          <p:nvPr/>
        </p:nvSpPr>
        <p:spPr>
          <a:xfrm>
            <a:off x="1371600" y="244144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Índice</a:t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658368" y="2926080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82" name="Google Shape;82;p2"/>
          <p:cNvSpPr txBox="1"/>
          <p:nvPr/>
        </p:nvSpPr>
        <p:spPr>
          <a:xfrm>
            <a:off x="1371600" y="298094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658368" y="3465576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8A4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1371600" y="352044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Solución y objetivo</a:t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658368" y="4005072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8A4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86" name="Google Shape;86;p2"/>
          <p:cNvSpPr txBox="1"/>
          <p:nvPr/>
        </p:nvSpPr>
        <p:spPr>
          <a:xfrm>
            <a:off x="1371600" y="4059935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/>
          </a:p>
        </p:txBody>
      </p:sp>
      <p:sp>
        <p:nvSpPr>
          <p:cNvPr id="87" name="Google Shape;87;p2"/>
          <p:cNvSpPr/>
          <p:nvPr/>
        </p:nvSpPr>
        <p:spPr>
          <a:xfrm>
            <a:off x="658368" y="4544568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8A4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1371600" y="4599431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658368" y="5084064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1371600" y="513892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Modelo relacional</a:t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658368" y="5623560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1371600" y="567842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190488" y="1847088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6903720" y="1901952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Diagrama de actividad</a:t>
            </a:r>
            <a:endParaRPr/>
          </a:p>
        </p:txBody>
      </p:sp>
      <p:sp>
        <p:nvSpPr>
          <p:cNvPr id="95" name="Google Shape;95;p2"/>
          <p:cNvSpPr/>
          <p:nvPr/>
        </p:nvSpPr>
        <p:spPr>
          <a:xfrm>
            <a:off x="6190488" y="2386584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6903720" y="244144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6190488" y="2926080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903720" y="298094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Responsabilidades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6190488" y="3465576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6903720" y="352044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6190488" y="4005072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6903720" y="4059935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Carta Gantt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190488" y="4544568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6903720" y="4599431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Costos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6190488" y="5084064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6903720" y="513892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Problemática a resolver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FF5A1F"/>
                </a:solidFill>
              </a:rPr>
              <a:t>3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594360" y="1847088"/>
            <a:ext cx="6492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8F3"/>
                </a:solidFill>
              </a:rPr>
              <a:t>Organizar un evento implica demasiado tiempo, incertidumbre y coordinación manual.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594360" y="2651760"/>
            <a:ext cx="6400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BDAEA6"/>
                </a:solidFill>
              </a:rPr>
              <a:t>Los clientes deben buscar prestadores por separado, comparar información poco clara y coordinar disponibilidad mediante múltiples canales. Esto aumenta los errores, retrasa las decisiones y dificulta el control del evento.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594360" y="365760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58952" y="3822191"/>
            <a:ext cx="73152" cy="1179576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941832" y="3877056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1371600" y="3840480"/>
            <a:ext cx="245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8F3"/>
                </a:solidFill>
              </a:rPr>
              <a:t>Tiempo perdido</a:t>
            </a:r>
            <a:endParaRPr b="1" sz="1600">
              <a:solidFill>
                <a:srgbClr val="FFF8F3"/>
              </a:solidFill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60120" y="4315968"/>
            <a:ext cx="283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BDAEA6"/>
                </a:solidFill>
              </a:rPr>
              <a:t>Buscar, contactar y comparar prestadores requiere demasiado esfuerzo.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4160520" y="365760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325112" y="3822191"/>
            <a:ext cx="73152" cy="1179576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507992" y="3877056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B53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4937759" y="3840480"/>
            <a:ext cx="245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8F3"/>
                </a:solidFill>
              </a:rPr>
              <a:t>Decisiones inciertas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4526280" y="4315968"/>
            <a:ext cx="283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BDAEA6"/>
                </a:solidFill>
              </a:rPr>
              <a:t>Precios, servicios y disponibilidad no siempre se presentan de forma clara.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7726679" y="365760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891271" y="3822191"/>
            <a:ext cx="73152" cy="1179576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8074152" y="3877056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0525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8503925" y="3840475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8F3"/>
                </a:solidFill>
              </a:rPr>
              <a:t>Coordinación fragmentada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8092440" y="4315968"/>
            <a:ext cx="283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BDAEA6"/>
                </a:solidFill>
              </a:rPr>
              <a:t>Solicitudes, respuestas y cambios quedan distribuidos entre mensajes y llamadas.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7882127" y="2048256"/>
            <a:ext cx="292608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CLIENTE + PRESTADOR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7936992" y="26334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Un problema de coordinación de punta a punta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PROPUESTA DE VALOR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FF5A1F"/>
                </a:solidFill>
              </a:rPr>
              <a:t>4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594360" y="1847088"/>
            <a:ext cx="4983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FF8F3"/>
                </a:solidFill>
              </a:rPr>
              <a:t>Una forma simple y confiable de organizar un evento completo.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594360" y="2665818"/>
            <a:ext cx="498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BDAEA6"/>
                </a:solidFill>
              </a:rPr>
              <a:t>Brasa reúne prestadores, servicios, precios, cobertura, disponibilidad y reservas en un solo lugar, permitiendo tomar mejores decisiones y mantener el control del evento.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594360" y="3794760"/>
            <a:ext cx="2377440" cy="1371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58952" y="3959352"/>
            <a:ext cx="73152" cy="1042416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960120" y="397764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960120" y="4453128"/>
            <a:ext cx="178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BDAEA6"/>
                </a:solidFill>
              </a:rPr>
              <a:t>Encuentra, compara y coordina los servicios que necesita sin recorrer múltiples canales.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3182112" y="3794760"/>
            <a:ext cx="2377440" cy="1371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346704" y="3959352"/>
            <a:ext cx="73152" cy="1042416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3547872" y="397764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Prestador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3547872" y="4453128"/>
            <a:ext cx="178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BDAEA6"/>
                </a:solidFill>
              </a:rPr>
              <a:t>Centraliza sus servicios, disponibilidad y solicitudes para gestionar mejor su negocio.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5769864" y="3794760"/>
            <a:ext cx="2377440" cy="1371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934455" y="3959352"/>
            <a:ext cx="73152" cy="1042416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135624" y="3977640"/>
            <a:ext cx="1810511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6135624" y="4453128"/>
            <a:ext cx="178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BDAEA6"/>
                </a:solidFill>
              </a:rPr>
              <a:t>Supervisa la operación y mantiene la trazabilidad de usuarios, prestadores y reservas.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8613648" y="1828800"/>
            <a:ext cx="2560320" cy="3337560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887968" y="214884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8851392" y="2505448"/>
            <a:ext cx="2084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00D0C"/>
                </a:solidFill>
              </a:rPr>
              <a:t>Reducir la incertidumbre y el trabajo manual al organizar un evento.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8887843" y="4453131"/>
            <a:ext cx="20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00D0C"/>
                </a:solidFill>
              </a:rPr>
              <a:t>Más claridad, menos coordinación y mejores decisiones.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176" name="Google Shape;176;p5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FF5A1F"/>
                </a:solidFill>
              </a:rPr>
              <a:t>5</a:t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594360" y="1938528"/>
            <a:ext cx="3429000" cy="352044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58952" y="2103120"/>
            <a:ext cx="73152" cy="3191256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960120" y="2121408"/>
            <a:ext cx="2862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Qué hace el sistema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960120" y="2596896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Autenticación y perfiles por rol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Prestadores multicategoría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Catálogo, precios y comparación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Planificación asistida del evento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Cobertura y disponibilidad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Solicitudes y reservas por estado</a:t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160520" y="1938528"/>
            <a:ext cx="3429000" cy="352044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325112" y="2103120"/>
            <a:ext cx="73152" cy="3191256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4526280" y="2121408"/>
            <a:ext cx="2862071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Qué no contempla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4526280" y="2596896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Producción física de los eventos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Contratación laboral de prestadores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Gestión contable empresarial completa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Aplicación móvil nativa en esta fase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Operación fuera del alcance aprobado</a:t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7726679" y="1938528"/>
            <a:ext cx="3429000" cy="352044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891271" y="2103120"/>
            <a:ext cx="73152" cy="3191256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8092440" y="2121408"/>
            <a:ext cx="2862071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Restricciones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8092440" y="2596896"/>
            <a:ext cx="28347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1</a:t>
            </a:r>
            <a:r>
              <a:rPr lang="en-US" sz="1150">
                <a:solidFill>
                  <a:srgbClr val="BDAEA6"/>
                </a:solidFill>
              </a:rPr>
              <a:t>8</a:t>
            </a: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 semanas académicas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Dependencia de servicios externos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Límites de planes cloud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Disponibilidad del equipo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Alcance y cambios controlados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Despliegue web con conexión a Internet</a:t>
            </a:r>
            <a:endParaRPr/>
          </a:p>
        </p:txBody>
      </p:sp>
      <p:sp>
        <p:nvSpPr>
          <p:cNvPr id="189" name="Google Shape;189;p5"/>
          <p:cNvSpPr txBox="1"/>
          <p:nvPr/>
        </p:nvSpPr>
        <p:spPr>
          <a:xfrm>
            <a:off x="658368" y="5806440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Foco de Fase 1: definición, alcance, requerimientos, planificación y diseño base.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194" name="Google Shape;1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Lista de requerimientos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FF5A1F"/>
                </a:solidFill>
              </a:rPr>
              <a:t>6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603504" y="18288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22 funcionales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603504" y="2359152"/>
            <a:ext cx="1143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R.1–R.6</a:t>
            </a:r>
            <a:endParaRPr/>
          </a:p>
        </p:txBody>
      </p:sp>
      <p:sp>
        <p:nvSpPr>
          <p:cNvPr id="203" name="Google Shape;203;p6"/>
          <p:cNvSpPr txBox="1"/>
          <p:nvPr/>
        </p:nvSpPr>
        <p:spPr>
          <a:xfrm>
            <a:off x="1874519" y="2386584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Cuentas, autenticación, perfiles, roles y permisos</a:t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603504" y="3072384"/>
            <a:ext cx="1143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R.7–R.14</a:t>
            </a:r>
            <a:endParaRPr/>
          </a:p>
        </p:txBody>
      </p:sp>
      <p:sp>
        <p:nvSpPr>
          <p:cNvPr id="205" name="Google Shape;205;p6"/>
          <p:cNvSpPr txBox="1"/>
          <p:nvPr/>
        </p:nvSpPr>
        <p:spPr>
          <a:xfrm>
            <a:off x="1874519" y="3099816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Multicategoría, servicios, precios, duración, agenda y cobertura</a:t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603504" y="3785616"/>
            <a:ext cx="1143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R.15–R.21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1874519" y="3813048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Planificación, búsqueda, comparación, IA, costos y reservas</a:t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603504" y="4498848"/>
            <a:ext cx="1143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R.22</a:t>
            </a:r>
            <a:endParaRPr/>
          </a:p>
        </p:txBody>
      </p:sp>
      <p:sp>
        <p:nvSpPr>
          <p:cNvPr id="209" name="Google Shape;209;p6"/>
          <p:cNvSpPr txBox="1"/>
          <p:nvPr/>
        </p:nvSpPr>
        <p:spPr>
          <a:xfrm>
            <a:off x="1874519" y="4526280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Administración de la plataforma</a:t>
            </a:r>
            <a:endParaRPr/>
          </a:p>
        </p:txBody>
      </p:sp>
      <p:sp>
        <p:nvSpPr>
          <p:cNvPr id="210" name="Google Shape;210;p6"/>
          <p:cNvSpPr txBox="1"/>
          <p:nvPr/>
        </p:nvSpPr>
        <p:spPr>
          <a:xfrm>
            <a:off x="6327648" y="1828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7 no funcionales</a:t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6327648" y="2359152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R.23</a:t>
            </a:r>
            <a:endParaRPr/>
          </a:p>
        </p:txBody>
      </p:sp>
      <p:sp>
        <p:nvSpPr>
          <p:cNvPr id="212" name="Google Shape;212;p6"/>
          <p:cNvSpPr txBox="1"/>
          <p:nvPr/>
        </p:nvSpPr>
        <p:spPr>
          <a:xfrm>
            <a:off x="7223760" y="239572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Seguridad y acceso</a:t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8842248" y="2359152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R.24</a:t>
            </a:r>
            <a:endParaRPr/>
          </a:p>
        </p:txBody>
      </p:sp>
      <p:sp>
        <p:nvSpPr>
          <p:cNvPr id="214" name="Google Shape;214;p6"/>
          <p:cNvSpPr txBox="1"/>
          <p:nvPr/>
        </p:nvSpPr>
        <p:spPr>
          <a:xfrm>
            <a:off x="9738360" y="239572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Integridad de datos</a:t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6327648" y="3054096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R.25</a:t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7223760" y="309067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Rendimiento</a:t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8842248" y="3054096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R.26</a:t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9738360" y="309067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Disponibilidad</a:t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6327648" y="3749039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R.27</a:t>
            </a:r>
            <a:endParaRPr/>
          </a:p>
        </p:txBody>
      </p:sp>
      <p:sp>
        <p:nvSpPr>
          <p:cNvPr id="220" name="Google Shape;220;p6"/>
          <p:cNvSpPr txBox="1"/>
          <p:nvPr/>
        </p:nvSpPr>
        <p:spPr>
          <a:xfrm>
            <a:off x="7223760" y="3785615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Usabilidad responsive</a:t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8842248" y="3749039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R.28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9738360" y="3785615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6327648" y="4443984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R.29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7223760" y="44805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621792" y="5760720"/>
            <a:ext cx="10469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Fuente: Planilla de Requerimientos BRASA · Fase 1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230" name="Google Shape;2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MODELO DE DATOS RELACIONAL</a:t>
            </a:r>
            <a:endParaRPr/>
          </a:p>
        </p:txBody>
      </p:sp>
      <p:sp>
        <p:nvSpPr>
          <p:cNvPr id="233" name="Google Shape;233;p7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del sistema</a:t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236" name="Google Shape;236;p7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FF5A1F"/>
                </a:solidFill>
              </a:rPr>
              <a:t>7</a:t>
            </a:r>
            <a:endParaRPr/>
          </a:p>
        </p:txBody>
      </p:sp>
      <p:sp>
        <p:nvSpPr>
          <p:cNvPr id="237" name="Google Shape;237;p7"/>
          <p:cNvSpPr/>
          <p:nvPr/>
        </p:nvSpPr>
        <p:spPr>
          <a:xfrm>
            <a:off x="658368" y="1965960"/>
            <a:ext cx="196596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786384" y="2130552"/>
            <a:ext cx="1709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profiles</a:t>
            </a:r>
            <a:endParaRPr/>
          </a:p>
        </p:txBody>
      </p:sp>
      <p:sp>
        <p:nvSpPr>
          <p:cNvPr id="239" name="Google Shape;239;p7"/>
          <p:cNvSpPr txBox="1"/>
          <p:nvPr/>
        </p:nvSpPr>
        <p:spPr>
          <a:xfrm>
            <a:off x="786384" y="2478024"/>
            <a:ext cx="17099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Usuarios y roles</a:t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2971800" y="1965960"/>
            <a:ext cx="205740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3099816" y="2130552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service_providers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3099816" y="2478024"/>
            <a:ext cx="1801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Negocio prestador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486400" y="196596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5614416" y="2130552"/>
            <a:ext cx="1892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provider_categories</a:t>
            </a:r>
            <a:endParaRPr/>
          </a:p>
        </p:txBody>
      </p:sp>
      <p:sp>
        <p:nvSpPr>
          <p:cNvPr id="245" name="Google Shape;245;p7"/>
          <p:cNvSpPr txBox="1"/>
          <p:nvPr/>
        </p:nvSpPr>
        <p:spPr>
          <a:xfrm>
            <a:off x="5614416" y="247802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Perfil por categoría</a:t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8229600" y="196596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8357616" y="2130552"/>
            <a:ext cx="1892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provider_services</a:t>
            </a:r>
            <a:endParaRPr/>
          </a:p>
        </p:txBody>
      </p:sp>
      <p:sp>
        <p:nvSpPr>
          <p:cNvPr id="248" name="Google Shape;248;p7"/>
          <p:cNvSpPr txBox="1"/>
          <p:nvPr/>
        </p:nvSpPr>
        <p:spPr>
          <a:xfrm>
            <a:off x="8357616" y="247802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Oferta y precio</a:t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5486400" y="402336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5614416" y="4187952"/>
            <a:ext cx="1892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provider_availability</a:t>
            </a:r>
            <a:endParaRPr/>
          </a:p>
        </p:txBody>
      </p:sp>
      <p:sp>
        <p:nvSpPr>
          <p:cNvPr id="251" name="Google Shape;251;p7"/>
          <p:cNvSpPr txBox="1"/>
          <p:nvPr/>
        </p:nvSpPr>
        <p:spPr>
          <a:xfrm>
            <a:off x="5614416" y="453542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Agenda por categoría</a:t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658368" y="4023360"/>
            <a:ext cx="196596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786384" y="4187952"/>
            <a:ext cx="1709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bookings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786384" y="4535424"/>
            <a:ext cx="17099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Evento y reserva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2971800" y="4023360"/>
            <a:ext cx="205740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3099816" y="4187952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booking_items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3099816" y="4535424"/>
            <a:ext cx="1801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Servicio reservado</a:t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8229600" y="402336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8357616" y="4187952"/>
            <a:ext cx="1892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gallery / coverage</a:t>
            </a:r>
            <a:endParaRPr/>
          </a:p>
        </p:txBody>
      </p:sp>
      <p:sp>
        <p:nvSpPr>
          <p:cNvPr id="260" name="Google Shape;260;p7"/>
          <p:cNvSpPr txBox="1"/>
          <p:nvPr/>
        </p:nvSpPr>
        <p:spPr>
          <a:xfrm>
            <a:off x="8357616" y="453542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Galería y comunas</a:t>
            </a:r>
            <a:endParaRPr/>
          </a:p>
        </p:txBody>
      </p:sp>
      <p:cxnSp>
        <p:nvCxnSpPr>
          <p:cNvPr id="261" name="Google Shape;261;p7"/>
          <p:cNvCxnSpPr/>
          <p:nvPr/>
        </p:nvCxnSpPr>
        <p:spPr>
          <a:xfrm>
            <a:off x="2624328" y="2450592"/>
            <a:ext cx="347472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2" name="Google Shape;262;p7"/>
          <p:cNvCxnSpPr/>
          <p:nvPr/>
        </p:nvCxnSpPr>
        <p:spPr>
          <a:xfrm>
            <a:off x="5029200" y="2450592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3" name="Google Shape;263;p7"/>
          <p:cNvCxnSpPr/>
          <p:nvPr/>
        </p:nvCxnSpPr>
        <p:spPr>
          <a:xfrm>
            <a:off x="7635240" y="2450592"/>
            <a:ext cx="594360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4" name="Google Shape;264;p7"/>
          <p:cNvCxnSpPr/>
          <p:nvPr/>
        </p:nvCxnSpPr>
        <p:spPr>
          <a:xfrm>
            <a:off x="1645920" y="2926080"/>
            <a:ext cx="0" cy="1097280"/>
          </a:xfrm>
          <a:prstGeom prst="straightConnector1">
            <a:avLst/>
          </a:prstGeom>
          <a:noFill/>
          <a:ln cap="flat" cmpd="sng" w="12700">
            <a:solidFill>
              <a:srgbClr val="BDAEA6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5" name="Google Shape;265;p7"/>
          <p:cNvCxnSpPr/>
          <p:nvPr/>
        </p:nvCxnSpPr>
        <p:spPr>
          <a:xfrm>
            <a:off x="2624328" y="4498848"/>
            <a:ext cx="347472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6" name="Google Shape;266;p7"/>
          <p:cNvCxnSpPr/>
          <p:nvPr/>
        </p:nvCxnSpPr>
        <p:spPr>
          <a:xfrm>
            <a:off x="5029200" y="4498848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7" name="Google Shape;267;p7"/>
          <p:cNvCxnSpPr/>
          <p:nvPr/>
        </p:nvCxnSpPr>
        <p:spPr>
          <a:xfrm>
            <a:off x="7635240" y="4498848"/>
            <a:ext cx="594360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8" name="Google Shape;268;p7"/>
          <p:cNvSpPr txBox="1"/>
          <p:nvPr/>
        </p:nvSpPr>
        <p:spPr>
          <a:xfrm>
            <a:off x="685800" y="562356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PostgreSQL/Supabase mantiene precios, relaciones y reservas como fuente de verdad; RLS controla el acceso por propietario y rol.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273" name="Google Shape;2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275" name="Google Shape;275;p9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DIAGRAMA DE ACTIVIDAD PRINCIPAL</a:t>
            </a:r>
            <a:endParaRPr/>
          </a:p>
        </p:txBody>
      </p:sp>
      <p:sp>
        <p:nvSpPr>
          <p:cNvPr id="276" name="Google Shape;276;p9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del sistema</a:t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279" name="Google Shape;279;p9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FF5A1F"/>
                </a:solidFill>
              </a:rPr>
              <a:t>9</a:t>
            </a:r>
            <a:endParaRPr/>
          </a:p>
        </p:txBody>
      </p:sp>
      <p:sp>
        <p:nvSpPr>
          <p:cNvPr id="280" name="Google Shape;280;p9"/>
          <p:cNvSpPr/>
          <p:nvPr/>
        </p:nvSpPr>
        <p:spPr>
          <a:xfrm>
            <a:off x="566928" y="2395728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270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676656" y="261518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Definir evento</a:t>
            </a:r>
            <a:endParaRPr/>
          </a:p>
        </p:txBody>
      </p:sp>
      <p:sp>
        <p:nvSpPr>
          <p:cNvPr id="282" name="Google Shape;282;p9"/>
          <p:cNvSpPr txBox="1"/>
          <p:nvPr/>
        </p:nvSpPr>
        <p:spPr>
          <a:xfrm>
            <a:off x="676656" y="3008376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fecha · comuna · invitados</a:t>
            </a:r>
            <a:endParaRPr/>
          </a:p>
        </p:txBody>
      </p:sp>
      <p:cxnSp>
        <p:nvCxnSpPr>
          <p:cNvPr id="283" name="Google Shape;283;p9"/>
          <p:cNvCxnSpPr/>
          <p:nvPr/>
        </p:nvCxnSpPr>
        <p:spPr>
          <a:xfrm>
            <a:off x="2139696" y="2962656"/>
            <a:ext cx="256032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4" name="Google Shape;284;p9"/>
          <p:cNvSpPr/>
          <p:nvPr/>
        </p:nvSpPr>
        <p:spPr>
          <a:xfrm>
            <a:off x="2395728" y="2395728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2505456" y="261518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Seleccionar servicios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2505456" y="3008376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categorías y alternativas</a:t>
            </a:r>
            <a:endParaRPr/>
          </a:p>
        </p:txBody>
      </p:sp>
      <p:cxnSp>
        <p:nvCxnSpPr>
          <p:cNvPr id="287" name="Google Shape;287;p9"/>
          <p:cNvCxnSpPr/>
          <p:nvPr/>
        </p:nvCxnSpPr>
        <p:spPr>
          <a:xfrm>
            <a:off x="3968496" y="2962656"/>
            <a:ext cx="256032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8" name="Google Shape;288;p9"/>
          <p:cNvSpPr/>
          <p:nvPr/>
        </p:nvSpPr>
        <p:spPr>
          <a:xfrm>
            <a:off x="4224528" y="2395728"/>
            <a:ext cx="1755648" cy="11430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4334256" y="261518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Validar compatibilidad</a:t>
            </a:r>
            <a:endParaRPr/>
          </a:p>
        </p:txBody>
      </p:sp>
      <p:sp>
        <p:nvSpPr>
          <p:cNvPr id="290" name="Google Shape;290;p9"/>
          <p:cNvSpPr txBox="1"/>
          <p:nvPr/>
        </p:nvSpPr>
        <p:spPr>
          <a:xfrm>
            <a:off x="4334256" y="3008376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cobertura · agenda · precio</a:t>
            </a:r>
            <a:endParaRPr/>
          </a:p>
        </p:txBody>
      </p:sp>
      <p:cxnSp>
        <p:nvCxnSpPr>
          <p:cNvPr id="291" name="Google Shape;291;p9"/>
          <p:cNvCxnSpPr/>
          <p:nvPr/>
        </p:nvCxnSpPr>
        <p:spPr>
          <a:xfrm>
            <a:off x="5980176" y="2962656"/>
            <a:ext cx="420624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2" name="Google Shape;292;p9"/>
          <p:cNvSpPr/>
          <p:nvPr/>
        </p:nvSpPr>
        <p:spPr>
          <a:xfrm>
            <a:off x="6400800" y="2395728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270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 txBox="1"/>
          <p:nvPr/>
        </p:nvSpPr>
        <p:spPr>
          <a:xfrm>
            <a:off x="6510528" y="261518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Crear solicitud</a:t>
            </a:r>
            <a:endParaRPr/>
          </a:p>
        </p:txBody>
      </p:sp>
      <p:sp>
        <p:nvSpPr>
          <p:cNvPr id="294" name="Google Shape;294;p9"/>
          <p:cNvSpPr txBox="1"/>
          <p:nvPr/>
        </p:nvSpPr>
        <p:spPr>
          <a:xfrm>
            <a:off x="6510528" y="3008376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reserva + ítems</a:t>
            </a:r>
            <a:endParaRPr/>
          </a:p>
        </p:txBody>
      </p:sp>
      <p:cxnSp>
        <p:nvCxnSpPr>
          <p:cNvPr id="295" name="Google Shape;295;p9"/>
          <p:cNvCxnSpPr/>
          <p:nvPr/>
        </p:nvCxnSpPr>
        <p:spPr>
          <a:xfrm>
            <a:off x="7973568" y="2962656"/>
            <a:ext cx="256032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96" name="Google Shape;296;p9"/>
          <p:cNvSpPr/>
          <p:nvPr/>
        </p:nvSpPr>
        <p:spPr>
          <a:xfrm>
            <a:off x="8229600" y="2395728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 txBox="1"/>
          <p:nvPr/>
        </p:nvSpPr>
        <p:spPr>
          <a:xfrm>
            <a:off x="8339327" y="2615184"/>
            <a:ext cx="1353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Responder</a:t>
            </a:r>
            <a:endParaRPr/>
          </a:p>
        </p:txBody>
      </p:sp>
      <p:sp>
        <p:nvSpPr>
          <p:cNvPr id="298" name="Google Shape;298;p9"/>
          <p:cNvSpPr txBox="1"/>
          <p:nvPr/>
        </p:nvSpPr>
        <p:spPr>
          <a:xfrm>
            <a:off x="8339327" y="3008376"/>
            <a:ext cx="13533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aceptar o rechazar</a:t>
            </a:r>
            <a:endParaRPr/>
          </a:p>
        </p:txBody>
      </p:sp>
      <p:cxnSp>
        <p:nvCxnSpPr>
          <p:cNvPr id="299" name="Google Shape;299;p9"/>
          <p:cNvCxnSpPr/>
          <p:nvPr/>
        </p:nvCxnSpPr>
        <p:spPr>
          <a:xfrm>
            <a:off x="9802368" y="2962656"/>
            <a:ext cx="256032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0" name="Google Shape;300;p9"/>
          <p:cNvSpPr/>
          <p:nvPr/>
        </p:nvSpPr>
        <p:spPr>
          <a:xfrm>
            <a:off x="10058400" y="2395728"/>
            <a:ext cx="1755648" cy="11430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10168128" y="2615184"/>
            <a:ext cx="15361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Actualizar estado</a:t>
            </a:r>
            <a:endParaRPr/>
          </a:p>
        </p:txBody>
      </p:sp>
      <p:sp>
        <p:nvSpPr>
          <p:cNvPr id="302" name="Google Shape;302;p9"/>
          <p:cNvSpPr txBox="1"/>
          <p:nvPr/>
        </p:nvSpPr>
        <p:spPr>
          <a:xfrm>
            <a:off x="10168128" y="3008376"/>
            <a:ext cx="1536192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cliente y agenda</a:t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7662672" y="4114800"/>
            <a:ext cx="1051560" cy="1051560"/>
          </a:xfrm>
          <a:prstGeom prst="diamond">
            <a:avLst/>
          </a:prstGeom>
          <a:solidFill>
            <a:srgbClr val="251E1A"/>
          </a:solidFill>
          <a:ln cap="flat" cmpd="sng" w="12700">
            <a:solidFill>
              <a:srgbClr val="F3B5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 txBox="1"/>
          <p:nvPr/>
        </p:nvSpPr>
        <p:spPr>
          <a:xfrm>
            <a:off x="7808975" y="4562467"/>
            <a:ext cx="759000" cy="1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F3B53F"/>
                </a:solidFill>
                <a:latin typeface="Arial"/>
                <a:ea typeface="Arial"/>
                <a:cs typeface="Arial"/>
                <a:sym typeface="Arial"/>
              </a:rPr>
              <a:t>¿ACEPTA?</a:t>
            </a:r>
            <a:endParaRPr/>
          </a:p>
        </p:txBody>
      </p:sp>
      <p:cxnSp>
        <p:nvCxnSpPr>
          <p:cNvPr id="305" name="Google Shape;305;p9"/>
          <p:cNvCxnSpPr/>
          <p:nvPr/>
        </p:nvCxnSpPr>
        <p:spPr>
          <a:xfrm flipH="1">
            <a:off x="8275320" y="3547872"/>
            <a:ext cx="731520" cy="566928"/>
          </a:xfrm>
          <a:prstGeom prst="straightConnector1">
            <a:avLst/>
          </a:prstGeom>
          <a:noFill/>
          <a:ln cap="flat" cmpd="sng" w="15225">
            <a:solidFill>
              <a:srgbClr val="F3B5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6" name="Google Shape;306;p9"/>
          <p:cNvSpPr/>
          <p:nvPr/>
        </p:nvSpPr>
        <p:spPr>
          <a:xfrm>
            <a:off x="5623560" y="4572000"/>
            <a:ext cx="13258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052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05252"/>
                </a:solidFill>
                <a:latin typeface="Arial"/>
                <a:ea typeface="Arial"/>
                <a:cs typeface="Arial"/>
                <a:sym typeface="Arial"/>
              </a:rPr>
              <a:t>NO · libera</a:t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9372600" y="4572000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SÍ · confirma</a:t>
            </a:r>
            <a:endParaRPr/>
          </a:p>
        </p:txBody>
      </p:sp>
      <p:cxnSp>
        <p:nvCxnSpPr>
          <p:cNvPr id="308" name="Google Shape;308;p9"/>
          <p:cNvCxnSpPr/>
          <p:nvPr/>
        </p:nvCxnSpPr>
        <p:spPr>
          <a:xfrm flipH="1">
            <a:off x="6949440" y="4645152"/>
            <a:ext cx="713232" cy="109728"/>
          </a:xfrm>
          <a:prstGeom prst="straightConnector1">
            <a:avLst/>
          </a:prstGeom>
          <a:noFill/>
          <a:ln cap="flat" cmpd="sng" w="13950">
            <a:solidFill>
              <a:srgbClr val="F052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9" name="Google Shape;309;p9"/>
          <p:cNvCxnSpPr/>
          <p:nvPr/>
        </p:nvCxnSpPr>
        <p:spPr>
          <a:xfrm>
            <a:off x="8714232" y="4645152"/>
            <a:ext cx="658368" cy="109728"/>
          </a:xfrm>
          <a:prstGeom prst="straightConnector1">
            <a:avLst/>
          </a:prstGeom>
          <a:noFill/>
          <a:ln cap="flat" cmpd="sng" w="139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0" name="Google Shape;310;p9"/>
          <p:cNvSpPr txBox="1"/>
          <p:nvPr/>
        </p:nvSpPr>
        <p:spPr>
          <a:xfrm>
            <a:off x="621792" y="5715000"/>
            <a:ext cx="10287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Las validaciones consideran duración dinámica, buffers, disponibilidad y reservas vigentes para evitar cruces.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315" name="Google Shape;3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8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DIAGRAMA DE CASOS DE USO</a:t>
            </a:r>
            <a:endParaRPr/>
          </a:p>
        </p:txBody>
      </p:sp>
      <p:sp>
        <p:nvSpPr>
          <p:cNvPr id="318" name="Google Shape;318;p8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del sistema</a:t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321" name="Google Shape;321;p8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FF5A1F"/>
                </a:solidFill>
              </a:rPr>
              <a:t>8</a:t>
            </a:r>
            <a:endParaRPr/>
          </a:p>
        </p:txBody>
      </p:sp>
      <p:sp>
        <p:nvSpPr>
          <p:cNvPr id="322" name="Google Shape;322;p8"/>
          <p:cNvSpPr/>
          <p:nvPr/>
        </p:nvSpPr>
        <p:spPr>
          <a:xfrm>
            <a:off x="658368" y="2011680"/>
            <a:ext cx="475488" cy="475488"/>
          </a:xfrm>
          <a:prstGeom prst="ellipse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 txBox="1"/>
          <p:nvPr/>
        </p:nvSpPr>
        <p:spPr>
          <a:xfrm>
            <a:off x="1316736" y="2084832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658368" y="3364992"/>
            <a:ext cx="475488" cy="475488"/>
          </a:xfrm>
          <a:prstGeom prst="ellipse">
            <a:avLst/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 txBox="1"/>
          <p:nvPr/>
        </p:nvSpPr>
        <p:spPr>
          <a:xfrm>
            <a:off x="1316736" y="3438144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PRESTADOR</a:t>
            </a:r>
            <a:endParaRPr/>
          </a:p>
        </p:txBody>
      </p:sp>
      <p:sp>
        <p:nvSpPr>
          <p:cNvPr id="326" name="Google Shape;326;p8"/>
          <p:cNvSpPr/>
          <p:nvPr/>
        </p:nvSpPr>
        <p:spPr>
          <a:xfrm>
            <a:off x="658368" y="4718304"/>
            <a:ext cx="475488" cy="475488"/>
          </a:xfrm>
          <a:prstGeom prst="ellipse">
            <a:avLst/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 txBox="1"/>
          <p:nvPr/>
        </p:nvSpPr>
        <p:spPr>
          <a:xfrm>
            <a:off x="1316736" y="4791456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A8DEE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2743200" y="1828800"/>
            <a:ext cx="8138160" cy="384048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 txBox="1"/>
          <p:nvPr/>
        </p:nvSpPr>
        <p:spPr>
          <a:xfrm>
            <a:off x="2999232" y="20116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SISTEMA BRASA</a:t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3063240" y="2542032"/>
            <a:ext cx="205740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Planificar evento</a:t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5413248" y="2542032"/>
            <a:ext cx="205740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Buscar y comparar</a:t>
            </a:r>
            <a:endParaRPr/>
          </a:p>
        </p:txBody>
      </p:sp>
      <p:sp>
        <p:nvSpPr>
          <p:cNvPr id="332" name="Google Shape;332;p8"/>
          <p:cNvSpPr/>
          <p:nvPr/>
        </p:nvSpPr>
        <p:spPr>
          <a:xfrm>
            <a:off x="7763256" y="2542032"/>
            <a:ext cx="233172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Solicitar reserva</a:t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3063248" y="3456425"/>
            <a:ext cx="1708500" cy="384000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Gestionar perfil</a:t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4947000" y="3456450"/>
            <a:ext cx="1708500" cy="384000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Publicar servicios</a:t>
            </a:r>
            <a:endParaRPr/>
          </a:p>
        </p:txBody>
      </p:sp>
      <p:sp>
        <p:nvSpPr>
          <p:cNvPr id="335" name="Google Shape;335;p8"/>
          <p:cNvSpPr/>
          <p:nvPr/>
        </p:nvSpPr>
        <p:spPr>
          <a:xfrm>
            <a:off x="6888998" y="3456450"/>
            <a:ext cx="1463100" cy="384000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Gestionar agenda</a:t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8585600" y="3456450"/>
            <a:ext cx="1830900" cy="405000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Responder solicitud</a:t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3063248" y="4370782"/>
            <a:ext cx="2057400" cy="384000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5A8D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A8DEE"/>
                </a:solidFill>
                <a:latin typeface="Arial"/>
                <a:ea typeface="Arial"/>
                <a:cs typeface="Arial"/>
                <a:sym typeface="Arial"/>
              </a:rPr>
              <a:t>Supervisar registros</a:t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5646469" y="4370832"/>
            <a:ext cx="2331600" cy="384000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5A8D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5A8DEE"/>
                </a:solidFill>
                <a:latin typeface="Arial"/>
                <a:ea typeface="Arial"/>
                <a:cs typeface="Arial"/>
                <a:sym typeface="Arial"/>
              </a:rPr>
              <a:t>Administrar plataforma</a:t>
            </a:r>
            <a:endParaRPr/>
          </a:p>
        </p:txBody>
      </p:sp>
      <p:cxnSp>
        <p:nvCxnSpPr>
          <p:cNvPr id="339" name="Google Shape;339;p8"/>
          <p:cNvCxnSpPr/>
          <p:nvPr/>
        </p:nvCxnSpPr>
        <p:spPr>
          <a:xfrm>
            <a:off x="2011680" y="2249424"/>
            <a:ext cx="731520" cy="484632"/>
          </a:xfrm>
          <a:prstGeom prst="straightConnector1">
            <a:avLst/>
          </a:prstGeom>
          <a:noFill/>
          <a:ln cap="flat" cmpd="sng" w="1522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40" name="Google Shape;340;p8"/>
          <p:cNvCxnSpPr/>
          <p:nvPr/>
        </p:nvCxnSpPr>
        <p:spPr>
          <a:xfrm>
            <a:off x="2011680" y="3602736"/>
            <a:ext cx="731520" cy="54864"/>
          </a:xfrm>
          <a:prstGeom prst="straightConnector1">
            <a:avLst/>
          </a:prstGeom>
          <a:noFill/>
          <a:ln cap="flat" cmpd="sng" w="15225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41" name="Google Shape;341;p8"/>
          <p:cNvCxnSpPr/>
          <p:nvPr/>
        </p:nvCxnSpPr>
        <p:spPr>
          <a:xfrm flipH="1" rot="10800000">
            <a:off x="2011680" y="4572000"/>
            <a:ext cx="731520" cy="304800"/>
          </a:xfrm>
          <a:prstGeom prst="straightConnector1">
            <a:avLst/>
          </a:prstGeom>
          <a:noFill/>
          <a:ln cap="flat" cmpd="sng" w="15225">
            <a:solidFill>
              <a:srgbClr val="5A8D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346" name="Google Shape;34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0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/>
          </a:p>
        </p:txBody>
      </p:sp>
      <p:sp>
        <p:nvSpPr>
          <p:cNvPr id="349" name="Google Shape;349;p10"/>
          <p:cNvSpPr txBox="1"/>
          <p:nvPr/>
        </p:nvSpPr>
        <p:spPr>
          <a:xfrm>
            <a:off x="566928" y="941832"/>
            <a:ext cx="1088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Tecnologías del desarrollo</a:t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352" name="Google Shape;352;p10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5A1F"/>
                </a:solidFill>
              </a:rPr>
              <a:t>10</a:t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365735" y="1938541"/>
            <a:ext cx="2395800" cy="2697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87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 txBox="1"/>
          <p:nvPr/>
        </p:nvSpPr>
        <p:spPr>
          <a:xfrm>
            <a:off x="594335" y="4736950"/>
            <a:ext cx="193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3310128" y="1938528"/>
            <a:ext cx="2395728" cy="269748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875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3538678" y="4736875"/>
            <a:ext cx="193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Datos y Auth</a:t>
            </a:r>
            <a:endParaRPr/>
          </a:p>
        </p:txBody>
      </p:sp>
      <p:sp>
        <p:nvSpPr>
          <p:cNvPr id="357" name="Google Shape;357;p10"/>
          <p:cNvSpPr txBox="1"/>
          <p:nvPr/>
        </p:nvSpPr>
        <p:spPr>
          <a:xfrm>
            <a:off x="3588566" y="4121212"/>
            <a:ext cx="19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RLS + OAuth</a:t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6354196" y="1938566"/>
            <a:ext cx="2395800" cy="2697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875">
            <a:solidFill>
              <a:srgbClr val="5A8D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6582796" y="4736963"/>
            <a:ext cx="193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Integraciones</a:t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9398264" y="1938566"/>
            <a:ext cx="2395800" cy="2697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875">
            <a:solidFill>
              <a:srgbClr val="F3B5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9626914" y="4736963"/>
            <a:ext cx="193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621792" y="5084064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Arquitectura web desacoplada · fuente de verdad en PostgreSQL · seguridad por políticas · componentes reutilizables</a:t>
            </a:r>
            <a:endParaRPr/>
          </a:p>
        </p:txBody>
      </p:sp>
      <p:pic>
        <p:nvPicPr>
          <p:cNvPr id="363" name="Google Shape;363;p10" title="typescript-logo_brandlogos.net_hg0q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6675" y="2298937"/>
            <a:ext cx="1098875" cy="1098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10" title="React_(web_framework)-Logo.win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950" y="3400376"/>
            <a:ext cx="1737349" cy="115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10" title="nextj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2675" y="2353823"/>
            <a:ext cx="989100" cy="98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10" title="PostgreSQL-Logo.win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8901" y="2019138"/>
            <a:ext cx="2240302" cy="1493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10" title="supabase-logo-ico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02754" y="2989550"/>
            <a:ext cx="1124421" cy="11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0" title="groq-lo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83386" y="3532313"/>
            <a:ext cx="1737350" cy="6352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0" title="manual-logo-transbank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31913" y="2748350"/>
            <a:ext cx="2240302" cy="359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0" title="68089633-dfed3800-fe38-11e9-893e-4efd59306bdd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577025" y="2394975"/>
            <a:ext cx="989100" cy="9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0" title="images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701062" y="2456475"/>
            <a:ext cx="866088" cy="866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0" title="node-js-logo-png_seeklogo-269242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727500" y="3108988"/>
            <a:ext cx="1737350" cy="173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377" name="Google Shape;3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2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</p:txBody>
      </p:sp>
      <p:sp>
        <p:nvSpPr>
          <p:cNvPr id="380" name="Google Shape;380;p12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Estimación de riesgos</a:t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383" name="Google Shape;383;p12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900">
                <a:solidFill>
                  <a:srgbClr val="FF5A1F"/>
                </a:solidFill>
              </a:rPr>
              <a:t>2</a:t>
            </a:r>
            <a:endParaRPr/>
          </a:p>
        </p:txBody>
      </p:sp>
      <p:graphicFrame>
        <p:nvGraphicFramePr>
          <p:cNvPr id="384" name="Google Shape;384;p12"/>
          <p:cNvGraphicFramePr/>
          <p:nvPr/>
        </p:nvGraphicFramePr>
        <p:xfrm>
          <a:off x="658368" y="1938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{1C970A3E-6280-4317-A529-484B4F694370}</a:tableStyleId>
              </a:tblPr>
              <a:tblGrid>
                <a:gridCol w="3063250"/>
                <a:gridCol w="502925"/>
                <a:gridCol w="502925"/>
                <a:gridCol w="4709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00D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Riesgo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00D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00D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00D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Respuesta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FF5A1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Crecimiento no controlado del alcance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Priorización y control formal de cambios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Retrasos respecto de la Carta Gantt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Seguimiento semanal y redistribución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Errores de integración o datos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Versionado, pruebas y respaldos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Límites de servicios externos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Monitorear cuotas y alternativas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Defectos cercanos a la entrega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Pruebas tempranas y corrección priorizada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Desviación del presupuesto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por hitos y contingencia</a:t>
                      </a:r>
                      <a:endParaRPr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</a:tr>
            </a:tbl>
          </a:graphicData>
        </a:graphic>
      </p:graphicFrame>
      <p:sp>
        <p:nvSpPr>
          <p:cNvPr id="385" name="Google Shape;385;p12"/>
          <p:cNvSpPr txBox="1"/>
          <p:nvPr/>
        </p:nvSpPr>
        <p:spPr>
          <a:xfrm>
            <a:off x="9765792" y="2011680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CRITICIDAD</a:t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9765792" y="2542032"/>
            <a:ext cx="1261872" cy="384048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 cap="flat" cmpd="sng" w="10150">
            <a:solidFill>
              <a:srgbClr val="F052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9765792" y="3255263"/>
            <a:ext cx="1261872" cy="384048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 cap="flat" cmpd="sng" w="10150">
            <a:solidFill>
              <a:srgbClr val="F3B5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/>
          </a:p>
        </p:txBody>
      </p:sp>
      <p:sp>
        <p:nvSpPr>
          <p:cNvPr id="388" name="Google Shape;388;p12"/>
          <p:cNvSpPr/>
          <p:nvPr/>
        </p:nvSpPr>
        <p:spPr>
          <a:xfrm>
            <a:off x="9765792" y="3968496"/>
            <a:ext cx="1261872" cy="384048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/>
          </a:p>
        </p:txBody>
      </p:sp>
      <p:sp>
        <p:nvSpPr>
          <p:cNvPr id="389" name="Google Shape;389;p12"/>
          <p:cNvSpPr txBox="1"/>
          <p:nvPr/>
        </p:nvSpPr>
        <p:spPr>
          <a:xfrm>
            <a:off x="9601200" y="4892040"/>
            <a:ext cx="15727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 = probabilidad</a:t>
            </a:r>
            <a:br>
              <a:rPr b="0" i="0" lang="en-US" sz="9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I = impacto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394" name="Google Shape;3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3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CARTA GANTT · 18 SEMANAS</a:t>
            </a:r>
            <a:endParaRPr/>
          </a:p>
        </p:txBody>
      </p:sp>
      <p:sp>
        <p:nvSpPr>
          <p:cNvPr id="397" name="Google Shape;397;p13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3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400" name="Google Shape;400;p13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900">
                <a:solidFill>
                  <a:srgbClr val="FF5A1F"/>
                </a:solidFill>
              </a:rPr>
              <a:t>3</a:t>
            </a:r>
            <a:endParaRPr/>
          </a:p>
        </p:txBody>
      </p:sp>
      <p:sp>
        <p:nvSpPr>
          <p:cNvPr id="401" name="Google Shape;401;p13"/>
          <p:cNvSpPr txBox="1"/>
          <p:nvPr/>
        </p:nvSpPr>
        <p:spPr>
          <a:xfrm>
            <a:off x="3108960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402" name="Google Shape;402;p13"/>
          <p:cNvCxnSpPr/>
          <p:nvPr/>
        </p:nvCxnSpPr>
        <p:spPr>
          <a:xfrm>
            <a:off x="3108960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3" name="Google Shape;403;p13"/>
          <p:cNvSpPr txBox="1"/>
          <p:nvPr/>
        </p:nvSpPr>
        <p:spPr>
          <a:xfrm>
            <a:off x="3551935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404" name="Google Shape;404;p13"/>
          <p:cNvCxnSpPr/>
          <p:nvPr/>
        </p:nvCxnSpPr>
        <p:spPr>
          <a:xfrm>
            <a:off x="3551935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5" name="Google Shape;405;p13"/>
          <p:cNvSpPr txBox="1"/>
          <p:nvPr/>
        </p:nvSpPr>
        <p:spPr>
          <a:xfrm>
            <a:off x="3994912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406" name="Google Shape;406;p13"/>
          <p:cNvCxnSpPr/>
          <p:nvPr/>
        </p:nvCxnSpPr>
        <p:spPr>
          <a:xfrm>
            <a:off x="3994912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7" name="Google Shape;407;p13"/>
          <p:cNvSpPr txBox="1"/>
          <p:nvPr/>
        </p:nvSpPr>
        <p:spPr>
          <a:xfrm>
            <a:off x="4437888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cxnSp>
        <p:nvCxnSpPr>
          <p:cNvPr id="408" name="Google Shape;408;p13"/>
          <p:cNvCxnSpPr/>
          <p:nvPr/>
        </p:nvCxnSpPr>
        <p:spPr>
          <a:xfrm>
            <a:off x="4437888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9" name="Google Shape;409;p13"/>
          <p:cNvSpPr txBox="1"/>
          <p:nvPr/>
        </p:nvSpPr>
        <p:spPr>
          <a:xfrm>
            <a:off x="4880864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cxnSp>
        <p:nvCxnSpPr>
          <p:cNvPr id="410" name="Google Shape;410;p13"/>
          <p:cNvCxnSpPr/>
          <p:nvPr/>
        </p:nvCxnSpPr>
        <p:spPr>
          <a:xfrm>
            <a:off x="4880864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1" name="Google Shape;411;p13"/>
          <p:cNvSpPr txBox="1"/>
          <p:nvPr/>
        </p:nvSpPr>
        <p:spPr>
          <a:xfrm>
            <a:off x="5323840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cxnSp>
        <p:nvCxnSpPr>
          <p:cNvPr id="412" name="Google Shape;412;p13"/>
          <p:cNvCxnSpPr/>
          <p:nvPr/>
        </p:nvCxnSpPr>
        <p:spPr>
          <a:xfrm>
            <a:off x="5323840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3" name="Google Shape;413;p13"/>
          <p:cNvSpPr txBox="1"/>
          <p:nvPr/>
        </p:nvSpPr>
        <p:spPr>
          <a:xfrm>
            <a:off x="5766816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cxnSp>
        <p:nvCxnSpPr>
          <p:cNvPr id="414" name="Google Shape;414;p13"/>
          <p:cNvCxnSpPr/>
          <p:nvPr/>
        </p:nvCxnSpPr>
        <p:spPr>
          <a:xfrm>
            <a:off x="5766816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5" name="Google Shape;415;p13"/>
          <p:cNvSpPr txBox="1"/>
          <p:nvPr/>
        </p:nvSpPr>
        <p:spPr>
          <a:xfrm>
            <a:off x="6209791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cxnSp>
        <p:nvCxnSpPr>
          <p:cNvPr id="416" name="Google Shape;416;p13"/>
          <p:cNvCxnSpPr/>
          <p:nvPr/>
        </p:nvCxnSpPr>
        <p:spPr>
          <a:xfrm>
            <a:off x="6209791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7" name="Google Shape;417;p13"/>
          <p:cNvSpPr txBox="1"/>
          <p:nvPr/>
        </p:nvSpPr>
        <p:spPr>
          <a:xfrm>
            <a:off x="6652768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cxnSp>
        <p:nvCxnSpPr>
          <p:cNvPr id="418" name="Google Shape;418;p13"/>
          <p:cNvCxnSpPr/>
          <p:nvPr/>
        </p:nvCxnSpPr>
        <p:spPr>
          <a:xfrm>
            <a:off x="6652768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9" name="Google Shape;419;p13"/>
          <p:cNvSpPr txBox="1"/>
          <p:nvPr/>
        </p:nvSpPr>
        <p:spPr>
          <a:xfrm>
            <a:off x="7095744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cxnSp>
        <p:nvCxnSpPr>
          <p:cNvPr id="420" name="Google Shape;420;p13"/>
          <p:cNvCxnSpPr/>
          <p:nvPr/>
        </p:nvCxnSpPr>
        <p:spPr>
          <a:xfrm>
            <a:off x="7095744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21" name="Google Shape;421;p13"/>
          <p:cNvSpPr txBox="1"/>
          <p:nvPr/>
        </p:nvSpPr>
        <p:spPr>
          <a:xfrm>
            <a:off x="7538720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cxnSp>
        <p:nvCxnSpPr>
          <p:cNvPr id="422" name="Google Shape;422;p13"/>
          <p:cNvCxnSpPr/>
          <p:nvPr/>
        </p:nvCxnSpPr>
        <p:spPr>
          <a:xfrm>
            <a:off x="7538720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23" name="Google Shape;423;p13"/>
          <p:cNvSpPr txBox="1"/>
          <p:nvPr/>
        </p:nvSpPr>
        <p:spPr>
          <a:xfrm>
            <a:off x="7981696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cxnSp>
        <p:nvCxnSpPr>
          <p:cNvPr id="424" name="Google Shape;424;p13"/>
          <p:cNvCxnSpPr/>
          <p:nvPr/>
        </p:nvCxnSpPr>
        <p:spPr>
          <a:xfrm>
            <a:off x="7981696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25" name="Google Shape;425;p13"/>
          <p:cNvSpPr txBox="1"/>
          <p:nvPr/>
        </p:nvSpPr>
        <p:spPr>
          <a:xfrm>
            <a:off x="8424672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cxnSp>
        <p:nvCxnSpPr>
          <p:cNvPr id="426" name="Google Shape;426;p13"/>
          <p:cNvCxnSpPr/>
          <p:nvPr/>
        </p:nvCxnSpPr>
        <p:spPr>
          <a:xfrm>
            <a:off x="8424672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27" name="Google Shape;427;p13"/>
          <p:cNvSpPr txBox="1"/>
          <p:nvPr/>
        </p:nvSpPr>
        <p:spPr>
          <a:xfrm>
            <a:off x="8867648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cxnSp>
        <p:nvCxnSpPr>
          <p:cNvPr id="428" name="Google Shape;428;p13"/>
          <p:cNvCxnSpPr/>
          <p:nvPr/>
        </p:nvCxnSpPr>
        <p:spPr>
          <a:xfrm>
            <a:off x="8867648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29" name="Google Shape;429;p13"/>
          <p:cNvSpPr txBox="1"/>
          <p:nvPr/>
        </p:nvSpPr>
        <p:spPr>
          <a:xfrm>
            <a:off x="9310624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cxnSp>
        <p:nvCxnSpPr>
          <p:cNvPr id="430" name="Google Shape;430;p13"/>
          <p:cNvCxnSpPr/>
          <p:nvPr/>
        </p:nvCxnSpPr>
        <p:spPr>
          <a:xfrm>
            <a:off x="9310624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1" name="Google Shape;431;p13"/>
          <p:cNvSpPr txBox="1"/>
          <p:nvPr/>
        </p:nvSpPr>
        <p:spPr>
          <a:xfrm>
            <a:off x="9753600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cxnSp>
        <p:nvCxnSpPr>
          <p:cNvPr id="432" name="Google Shape;432;p13"/>
          <p:cNvCxnSpPr/>
          <p:nvPr/>
        </p:nvCxnSpPr>
        <p:spPr>
          <a:xfrm>
            <a:off x="9753600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3" name="Google Shape;433;p13"/>
          <p:cNvSpPr txBox="1"/>
          <p:nvPr/>
        </p:nvSpPr>
        <p:spPr>
          <a:xfrm>
            <a:off x="10196576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cxnSp>
        <p:nvCxnSpPr>
          <p:cNvPr id="434" name="Google Shape;434;p13"/>
          <p:cNvCxnSpPr/>
          <p:nvPr/>
        </p:nvCxnSpPr>
        <p:spPr>
          <a:xfrm>
            <a:off x="10196576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5" name="Google Shape;435;p13"/>
          <p:cNvSpPr txBox="1"/>
          <p:nvPr/>
        </p:nvSpPr>
        <p:spPr>
          <a:xfrm>
            <a:off x="10639552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cxnSp>
        <p:nvCxnSpPr>
          <p:cNvPr id="436" name="Google Shape;436;p13"/>
          <p:cNvCxnSpPr/>
          <p:nvPr/>
        </p:nvCxnSpPr>
        <p:spPr>
          <a:xfrm>
            <a:off x="10639552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37" name="Google Shape;437;p13"/>
          <p:cNvSpPr txBox="1"/>
          <p:nvPr/>
        </p:nvSpPr>
        <p:spPr>
          <a:xfrm>
            <a:off x="621792" y="21579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Definición y alcance</a:t>
            </a: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3108960" y="2084831"/>
            <a:ext cx="1771904" cy="347472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 txBox="1"/>
          <p:nvPr/>
        </p:nvSpPr>
        <p:spPr>
          <a:xfrm>
            <a:off x="621792" y="27249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Análisis y requerimientos</a:t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3108960" y="2651760"/>
            <a:ext cx="2214880" cy="347472"/>
          </a:xfrm>
          <a:prstGeom prst="roundRect">
            <a:avLst>
              <a:gd fmla="val 16667" name="adj"/>
            </a:avLst>
          </a:prstGeom>
          <a:solidFill>
            <a:srgbClr val="FF8A4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 txBox="1"/>
          <p:nvPr/>
        </p:nvSpPr>
        <p:spPr>
          <a:xfrm>
            <a:off x="621792" y="3291839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y arquitectura</a:t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3994912" y="3218687"/>
            <a:ext cx="2214880" cy="347472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3"/>
          <p:cNvSpPr txBox="1"/>
          <p:nvPr/>
        </p:nvSpPr>
        <p:spPr>
          <a:xfrm>
            <a:off x="621792" y="38587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Construcción e integración</a:t>
            </a: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4880864" y="3785615"/>
            <a:ext cx="4872736" cy="347472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 txBox="1"/>
          <p:nvPr/>
        </p:nvSpPr>
        <p:spPr>
          <a:xfrm>
            <a:off x="621792" y="44256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Pruebas y correcciones</a:t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7981696" y="4352544"/>
            <a:ext cx="2657856" cy="347472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 txBox="1"/>
          <p:nvPr/>
        </p:nvSpPr>
        <p:spPr>
          <a:xfrm>
            <a:off x="621792" y="49926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Cierre y entrega</a:t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9753600" y="4919472"/>
            <a:ext cx="1328928" cy="347472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9" name="Google Shape;449;p13"/>
          <p:cNvCxnSpPr/>
          <p:nvPr/>
        </p:nvCxnSpPr>
        <p:spPr>
          <a:xfrm>
            <a:off x="4659376" y="1691640"/>
            <a:ext cx="0" cy="4114800"/>
          </a:xfrm>
          <a:prstGeom prst="straightConnector1">
            <a:avLst/>
          </a:prstGeom>
          <a:noFill/>
          <a:ln cap="flat" cmpd="sng" w="15875">
            <a:solidFill>
              <a:srgbClr val="FF5A1F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50" name="Google Shape;450;p13"/>
          <p:cNvSpPr/>
          <p:nvPr/>
        </p:nvSpPr>
        <p:spPr>
          <a:xfrm>
            <a:off x="4439920" y="5870448"/>
            <a:ext cx="438912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/>
          </a:p>
        </p:txBody>
      </p:sp>
      <p:cxnSp>
        <p:nvCxnSpPr>
          <p:cNvPr id="451" name="Google Shape;451;p13"/>
          <p:cNvCxnSpPr/>
          <p:nvPr/>
        </p:nvCxnSpPr>
        <p:spPr>
          <a:xfrm>
            <a:off x="9532112" y="1691640"/>
            <a:ext cx="0" cy="4114800"/>
          </a:xfrm>
          <a:prstGeom prst="straightConnector1">
            <a:avLst/>
          </a:prstGeom>
          <a:noFill/>
          <a:ln cap="flat" cmpd="sng" w="15875">
            <a:solidFill>
              <a:srgbClr val="FF5A1F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52" name="Google Shape;452;p13"/>
          <p:cNvSpPr/>
          <p:nvPr/>
        </p:nvSpPr>
        <p:spPr>
          <a:xfrm>
            <a:off x="9312656" y="5870448"/>
            <a:ext cx="438912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/>
          </a:p>
        </p:txBody>
      </p:sp>
      <p:cxnSp>
        <p:nvCxnSpPr>
          <p:cNvPr id="453" name="Google Shape;453;p13"/>
          <p:cNvCxnSpPr/>
          <p:nvPr/>
        </p:nvCxnSpPr>
        <p:spPr>
          <a:xfrm>
            <a:off x="10861040" y="1691640"/>
            <a:ext cx="0" cy="4114800"/>
          </a:xfrm>
          <a:prstGeom prst="straightConnector1">
            <a:avLst/>
          </a:prstGeom>
          <a:noFill/>
          <a:ln cap="flat" cmpd="sng" w="15875">
            <a:solidFill>
              <a:srgbClr val="FF5A1F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54" name="Google Shape;454;p13"/>
          <p:cNvSpPr/>
          <p:nvPr/>
        </p:nvSpPr>
        <p:spPr>
          <a:xfrm>
            <a:off x="10641584" y="5870448"/>
            <a:ext cx="438912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H3</a:t>
            </a:r>
            <a:endParaRPr/>
          </a:p>
        </p:txBody>
      </p:sp>
      <p:sp>
        <p:nvSpPr>
          <p:cNvPr id="455" name="Google Shape;455;p13"/>
          <p:cNvSpPr txBox="1"/>
          <p:nvPr/>
        </p:nvSpPr>
        <p:spPr>
          <a:xfrm>
            <a:off x="640080" y="5943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Hitos: S4 · S15 · S18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460" name="Google Shape;4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4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462" name="Google Shape;462;p14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PRESUPUESTO</a:t>
            </a:r>
            <a:endParaRPr/>
          </a:p>
        </p:txBody>
      </p:sp>
      <p:sp>
        <p:nvSpPr>
          <p:cNvPr id="463" name="Google Shape;463;p14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Resumen de costos estimados del proyecto</a:t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4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466" name="Google Shape;466;p14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900">
                <a:solidFill>
                  <a:srgbClr val="FF5A1F"/>
                </a:solidFill>
              </a:rPr>
              <a:t>4</a:t>
            </a:r>
            <a:endParaRPr/>
          </a:p>
        </p:txBody>
      </p:sp>
      <p:sp>
        <p:nvSpPr>
          <p:cNvPr id="467" name="Google Shape;467;p14"/>
          <p:cNvSpPr txBox="1"/>
          <p:nvPr/>
        </p:nvSpPr>
        <p:spPr>
          <a:xfrm>
            <a:off x="621792" y="184708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PRESUPUESTO TOTAL</a:t>
            </a:r>
            <a:endParaRPr/>
          </a:p>
        </p:txBody>
      </p:sp>
      <p:sp>
        <p:nvSpPr>
          <p:cNvPr id="468" name="Google Shape;468;p14"/>
          <p:cNvSpPr txBox="1"/>
          <p:nvPr/>
        </p:nvSpPr>
        <p:spPr>
          <a:xfrm>
            <a:off x="621792" y="224028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$40.000.000</a:t>
            </a:r>
            <a:endParaRPr/>
          </a:p>
        </p:txBody>
      </p:sp>
      <p:sp>
        <p:nvSpPr>
          <p:cNvPr id="469" name="Google Shape;469;p14"/>
          <p:cNvSpPr txBox="1"/>
          <p:nvPr/>
        </p:nvSpPr>
        <p:spPr>
          <a:xfrm>
            <a:off x="658368" y="2962656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CLP · escenario profesional</a:t>
            </a:r>
            <a:endParaRPr/>
          </a:p>
        </p:txBody>
      </p:sp>
      <p:sp>
        <p:nvSpPr>
          <p:cNvPr id="470" name="Google Shape;470;p14"/>
          <p:cNvSpPr txBox="1"/>
          <p:nvPr/>
        </p:nvSpPr>
        <p:spPr>
          <a:xfrm>
            <a:off x="4663440" y="1874519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Recursos humanos y gestión</a:t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4663440" y="2185415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4663440" y="2185415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4"/>
          <p:cNvSpPr txBox="1"/>
          <p:nvPr/>
        </p:nvSpPr>
        <p:spPr>
          <a:xfrm>
            <a:off x="9829800" y="1856231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$28 MM</a:t>
            </a:r>
            <a:endParaRPr/>
          </a:p>
        </p:txBody>
      </p:sp>
      <p:sp>
        <p:nvSpPr>
          <p:cNvPr id="474" name="Google Shape;474;p14"/>
          <p:cNvSpPr txBox="1"/>
          <p:nvPr/>
        </p:nvSpPr>
        <p:spPr>
          <a:xfrm>
            <a:off x="9829800" y="2148839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  <a:endParaRPr/>
          </a:p>
        </p:txBody>
      </p:sp>
      <p:sp>
        <p:nvSpPr>
          <p:cNvPr id="475" name="Google Shape;475;p14"/>
          <p:cNvSpPr txBox="1"/>
          <p:nvPr/>
        </p:nvSpPr>
        <p:spPr>
          <a:xfrm>
            <a:off x="4663440" y="2642615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Infraestructura y servicios</a:t>
            </a:r>
            <a:endParaRPr/>
          </a:p>
        </p:txBody>
      </p:sp>
      <p:sp>
        <p:nvSpPr>
          <p:cNvPr id="476" name="Google Shape;476;p14"/>
          <p:cNvSpPr/>
          <p:nvPr/>
        </p:nvSpPr>
        <p:spPr>
          <a:xfrm>
            <a:off x="4663440" y="2953511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4663440" y="2953511"/>
            <a:ext cx="705394" cy="210312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4"/>
          <p:cNvSpPr txBox="1"/>
          <p:nvPr/>
        </p:nvSpPr>
        <p:spPr>
          <a:xfrm>
            <a:off x="9829800" y="2624327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5A8DEE"/>
                </a:solidFill>
                <a:latin typeface="Arial"/>
                <a:ea typeface="Arial"/>
                <a:cs typeface="Arial"/>
                <a:sym typeface="Arial"/>
              </a:rPr>
              <a:t>$4 MM</a:t>
            </a:r>
            <a:endParaRPr/>
          </a:p>
        </p:txBody>
      </p:sp>
      <p:sp>
        <p:nvSpPr>
          <p:cNvPr id="479" name="Google Shape;479;p14"/>
          <p:cNvSpPr txBox="1"/>
          <p:nvPr/>
        </p:nvSpPr>
        <p:spPr>
          <a:xfrm>
            <a:off x="9829800" y="2916935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/>
          </a:p>
        </p:txBody>
      </p:sp>
      <p:sp>
        <p:nvSpPr>
          <p:cNvPr id="480" name="Google Shape;480;p14"/>
          <p:cNvSpPr txBox="1"/>
          <p:nvPr/>
        </p:nvSpPr>
        <p:spPr>
          <a:xfrm>
            <a:off x="4663440" y="3410711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UX/UI y QA</a:t>
            </a: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4663440" y="3721607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4663440" y="3721607"/>
            <a:ext cx="529045" cy="210312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4"/>
          <p:cNvSpPr txBox="1"/>
          <p:nvPr/>
        </p:nvSpPr>
        <p:spPr>
          <a:xfrm>
            <a:off x="9829800" y="3392423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$3 MM</a:t>
            </a:r>
            <a:endParaRPr/>
          </a:p>
        </p:txBody>
      </p:sp>
      <p:sp>
        <p:nvSpPr>
          <p:cNvPr id="484" name="Google Shape;484;p14"/>
          <p:cNvSpPr txBox="1"/>
          <p:nvPr/>
        </p:nvSpPr>
        <p:spPr>
          <a:xfrm>
            <a:off x="9829800" y="3685031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7,5%</a:t>
            </a:r>
            <a:endParaRPr/>
          </a:p>
        </p:txBody>
      </p:sp>
      <p:sp>
        <p:nvSpPr>
          <p:cNvPr id="485" name="Google Shape;485;p14"/>
          <p:cNvSpPr txBox="1"/>
          <p:nvPr/>
        </p:nvSpPr>
        <p:spPr>
          <a:xfrm>
            <a:off x="4663440" y="4178807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Seguridad y puesta en marcha</a:t>
            </a:r>
            <a:endParaRPr/>
          </a:p>
        </p:txBody>
      </p:sp>
      <p:sp>
        <p:nvSpPr>
          <p:cNvPr id="486" name="Google Shape;486;p14"/>
          <p:cNvSpPr/>
          <p:nvPr/>
        </p:nvSpPr>
        <p:spPr>
          <a:xfrm>
            <a:off x="4663440" y="4489703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4"/>
          <p:cNvSpPr/>
          <p:nvPr/>
        </p:nvSpPr>
        <p:spPr>
          <a:xfrm>
            <a:off x="4663440" y="4489703"/>
            <a:ext cx="352697" cy="210312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4"/>
          <p:cNvSpPr txBox="1"/>
          <p:nvPr/>
        </p:nvSpPr>
        <p:spPr>
          <a:xfrm>
            <a:off x="9829800" y="4160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3B53F"/>
                </a:solidFill>
                <a:latin typeface="Arial"/>
                <a:ea typeface="Arial"/>
                <a:cs typeface="Arial"/>
                <a:sym typeface="Arial"/>
              </a:rPr>
              <a:t>$2 MM</a:t>
            </a:r>
            <a:endParaRPr/>
          </a:p>
        </p:txBody>
      </p:sp>
      <p:sp>
        <p:nvSpPr>
          <p:cNvPr id="489" name="Google Shape;489;p14"/>
          <p:cNvSpPr txBox="1"/>
          <p:nvPr/>
        </p:nvSpPr>
        <p:spPr>
          <a:xfrm>
            <a:off x="9829800" y="4453127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  <a:endParaRPr/>
          </a:p>
        </p:txBody>
      </p:sp>
      <p:sp>
        <p:nvSpPr>
          <p:cNvPr id="490" name="Google Shape;490;p14"/>
          <p:cNvSpPr txBox="1"/>
          <p:nvPr/>
        </p:nvSpPr>
        <p:spPr>
          <a:xfrm>
            <a:off x="4663440" y="4946903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Contingencia</a:t>
            </a: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4663440" y="5257799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4663440" y="5257799"/>
            <a:ext cx="529045" cy="210312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4"/>
          <p:cNvSpPr txBox="1"/>
          <p:nvPr/>
        </p:nvSpPr>
        <p:spPr>
          <a:xfrm>
            <a:off x="9829800" y="492861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05252"/>
                </a:solidFill>
                <a:latin typeface="Arial"/>
                <a:ea typeface="Arial"/>
                <a:cs typeface="Arial"/>
                <a:sym typeface="Arial"/>
              </a:rPr>
              <a:t>$3 MM</a:t>
            </a:r>
            <a:endParaRPr/>
          </a:p>
        </p:txBody>
      </p:sp>
      <p:sp>
        <p:nvSpPr>
          <p:cNvPr id="494" name="Google Shape;494;p14"/>
          <p:cNvSpPr txBox="1"/>
          <p:nvPr/>
        </p:nvSpPr>
        <p:spPr>
          <a:xfrm>
            <a:off x="9829800" y="5221223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7,5%</a:t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621792" y="3886200"/>
            <a:ext cx="3429000" cy="132588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 txBox="1"/>
          <p:nvPr/>
        </p:nvSpPr>
        <p:spPr>
          <a:xfrm>
            <a:off x="868680" y="4187952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Control por hitos</a:t>
            </a:r>
            <a:b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+ reserva de contingencia</a:t>
            </a:r>
            <a:endParaRPr/>
          </a:p>
        </p:txBody>
      </p:sp>
      <p:sp>
        <p:nvSpPr>
          <p:cNvPr id="497" name="Google Shape;497;p14"/>
          <p:cNvSpPr txBox="1"/>
          <p:nvPr/>
        </p:nvSpPr>
        <p:spPr>
          <a:xfrm>
            <a:off x="658368" y="574243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Toda desviación relevante debe quedar registrada, justificada y aprobada mediante control de cambios.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502" name="Google Shape;5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15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1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/>
          </a:p>
        </p:txBody>
      </p:sp>
      <p:sp>
        <p:nvSpPr>
          <p:cNvPr id="505" name="Google Shape;505;p15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1</a:t>
            </a:r>
            <a:endParaRPr/>
          </a:p>
        </p:txBody>
      </p:sp>
      <p:sp>
        <p:nvSpPr>
          <p:cNvPr id="508" name="Google Shape;508;p15"/>
          <p:cNvSpPr txBox="1"/>
          <p:nvPr/>
        </p:nvSpPr>
        <p:spPr>
          <a:xfrm>
            <a:off x="11064240" y="646480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1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509" name="Google Shape;509;p15"/>
          <p:cNvSpPr txBox="1"/>
          <p:nvPr/>
        </p:nvSpPr>
        <p:spPr>
          <a:xfrm>
            <a:off x="621800" y="1847100"/>
            <a:ext cx="6812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2500"/>
              <a:buFont typeface="Arial"/>
              <a:buNone/>
            </a:pPr>
            <a:r>
              <a:rPr b="1" lang="en-US" sz="2500">
                <a:solidFill>
                  <a:srgbClr val="FFF8F3"/>
                </a:solidFill>
              </a:rPr>
              <a:t>Brasa transforma una coordinación dispersa en una experiencia simple y trazable.</a:t>
            </a:r>
            <a:endParaRPr/>
          </a:p>
        </p:txBody>
      </p:sp>
      <p:sp>
        <p:nvSpPr>
          <p:cNvPr id="510" name="Google Shape;510;p15"/>
          <p:cNvSpPr txBox="1"/>
          <p:nvPr/>
        </p:nvSpPr>
        <p:spPr>
          <a:xfrm>
            <a:off x="621792" y="2801985"/>
            <a:ext cx="658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r>
              <a:rPr lang="en-US">
                <a:solidFill>
                  <a:srgbClr val="BDAEA6"/>
                </a:solidFill>
              </a:rPr>
              <a:t>a solución permite que clientes y prestadores se encuentren, comparen alternativas y coordinen servicios con información clara y centralizada.</a:t>
            </a: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621792" y="3886200"/>
            <a:ext cx="2148840" cy="12801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786384" y="4050791"/>
            <a:ext cx="73152" cy="950976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5"/>
          <p:cNvSpPr txBox="1"/>
          <p:nvPr/>
        </p:nvSpPr>
        <p:spPr>
          <a:xfrm>
            <a:off x="987552" y="4069080"/>
            <a:ext cx="158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8F3"/>
                </a:solidFill>
              </a:rPr>
              <a:t>Simplicidad</a:t>
            </a:r>
            <a:endParaRPr/>
          </a:p>
        </p:txBody>
      </p:sp>
      <p:sp>
        <p:nvSpPr>
          <p:cNvPr id="514" name="Google Shape;514;p15"/>
          <p:cNvSpPr txBox="1"/>
          <p:nvPr/>
        </p:nvSpPr>
        <p:spPr>
          <a:xfrm>
            <a:off x="987552" y="4544568"/>
            <a:ext cx="1554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DAEA6"/>
                </a:solidFill>
              </a:rPr>
              <a:t>Todo lo necesario para organizar el evento en un solo lugar.</a:t>
            </a: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2953512" y="3886200"/>
            <a:ext cx="2148840" cy="12801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3118104" y="4050791"/>
            <a:ext cx="73152" cy="950976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5"/>
          <p:cNvSpPr txBox="1"/>
          <p:nvPr/>
        </p:nvSpPr>
        <p:spPr>
          <a:xfrm>
            <a:off x="3319272" y="4069080"/>
            <a:ext cx="1581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Confianza</a:t>
            </a:r>
            <a:endParaRPr/>
          </a:p>
        </p:txBody>
      </p:sp>
      <p:sp>
        <p:nvSpPr>
          <p:cNvPr id="518" name="Google Shape;518;p15"/>
          <p:cNvSpPr txBox="1"/>
          <p:nvPr/>
        </p:nvSpPr>
        <p:spPr>
          <a:xfrm>
            <a:off x="3319272" y="4544568"/>
            <a:ext cx="1554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DAEA6"/>
                </a:solidFill>
              </a:rPr>
              <a:t>Precios, disponibilidad y solicitudes con mayor claridad y trazabilidad.</a:t>
            </a: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5285232" y="3886200"/>
            <a:ext cx="2148840" cy="12801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5449824" y="4050791"/>
            <a:ext cx="73152" cy="950976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5"/>
          <p:cNvSpPr txBox="1"/>
          <p:nvPr/>
        </p:nvSpPr>
        <p:spPr>
          <a:xfrm>
            <a:off x="5650992" y="4069080"/>
            <a:ext cx="158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8F3"/>
                </a:solidFill>
              </a:rPr>
              <a:t>Oportunidad</a:t>
            </a:r>
            <a:endParaRPr/>
          </a:p>
        </p:txBody>
      </p:sp>
      <p:sp>
        <p:nvSpPr>
          <p:cNvPr id="522" name="Google Shape;522;p15"/>
          <p:cNvSpPr txBox="1"/>
          <p:nvPr/>
        </p:nvSpPr>
        <p:spPr>
          <a:xfrm>
            <a:off x="5650992" y="4544568"/>
            <a:ext cx="1554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BDAEA6"/>
                </a:solidFill>
              </a:rPr>
              <a:t>Más visibilidad y una gestión más ordenada para los prestadores.</a:t>
            </a: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8275320" y="1847088"/>
            <a:ext cx="2880360" cy="3319272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5"/>
          <p:cNvSpPr txBox="1"/>
          <p:nvPr/>
        </p:nvSpPr>
        <p:spPr>
          <a:xfrm>
            <a:off x="8641080" y="23317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/>
          </a:p>
        </p:txBody>
      </p:sp>
      <p:sp>
        <p:nvSpPr>
          <p:cNvPr id="525" name="Google Shape;525;p15"/>
          <p:cNvSpPr txBox="1"/>
          <p:nvPr/>
        </p:nvSpPr>
        <p:spPr>
          <a:xfrm>
            <a:off x="8577072" y="2907792"/>
            <a:ext cx="2286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  <p:sp>
        <p:nvSpPr>
          <p:cNvPr id="526" name="Google Shape;526;p15"/>
          <p:cNvSpPr txBox="1"/>
          <p:nvPr/>
        </p:nvSpPr>
        <p:spPr>
          <a:xfrm>
            <a:off x="8668512" y="3977639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¿Preguntas?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