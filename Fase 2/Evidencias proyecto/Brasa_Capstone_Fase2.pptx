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3" roundtripDataSignature="AMtx7mhxK8M06yYYegVkAFyev5VizXzN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C337F4-6623-4CEE-A71D-9F2492B31899}">
  <a:tblStyle styleId="{36C337F4-6623-4CEE-A71D-9F2492B3189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8" name="Google Shape;6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2" name="Google Shape;19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8" name="Google Shape;2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1" name="Google Shape;27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h5c34b66770dd4b9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h5c34b66770dd4b94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2" name="Google Shape;34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3" name="Google Shape;40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6" name="Google Shape;4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53" name="Google Shape;45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19" name="Google Shape;51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fbc62b8c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61" name="Google Shape;561;g3fbc62b8c1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6" name="Google Shape;58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9f07a6f6b_0_18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f07a6f6b_0_143"/>
          <p:cNvSpPr txBox="1"/>
          <p:nvPr>
            <p:ph type="ctrTitle"/>
          </p:nvPr>
        </p:nvSpPr>
        <p:spPr>
          <a:xfrm>
            <a:off x="415611" y="992767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/>
        </p:txBody>
      </p:sp>
      <p:sp>
        <p:nvSpPr>
          <p:cNvPr id="13" name="Google Shape;13;g3f9f07a6f6b_0_143"/>
          <p:cNvSpPr txBox="1"/>
          <p:nvPr>
            <p:ph idx="1" type="subTitle"/>
          </p:nvPr>
        </p:nvSpPr>
        <p:spPr>
          <a:xfrm>
            <a:off x="415600" y="3778833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/>
        </p:txBody>
      </p:sp>
      <p:sp>
        <p:nvSpPr>
          <p:cNvPr id="14" name="Google Shape;14;g3f9f07a6f6b_0_143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9f07a6f6b_0_147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" name="Google Shape;17;g3f9f07a6f6b_0_147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f9f07a6f6b_0_150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0" name="Google Shape;20;g3f9f07a6f6b_0_150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21" name="Google Shape;21;g3f9f07a6f6b_0_150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9f07a6f6b_0_154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4" name="Google Shape;24;g3f9f07a6f6b_0_154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5" name="Google Shape;25;g3f9f07a6f6b_0_154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492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 sz="19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26" name="Google Shape;26;g3f9f07a6f6b_0_154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9f07a6f6b_0_15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/>
        </p:txBody>
      </p:sp>
      <p:sp>
        <p:nvSpPr>
          <p:cNvPr id="29" name="Google Shape;29;g3f9f07a6f6b_0_15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f9f07a6f6b_0_162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32" name="Google Shape;32;g3f9f07a6f6b_0_162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302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1pPr>
            <a:lvl2pPr indent="-3302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indent="-3302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indent="-3302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indent="-3302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indent="-3302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indent="-3302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indent="-3302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/>
        </p:txBody>
      </p:sp>
      <p:sp>
        <p:nvSpPr>
          <p:cNvPr id="33" name="Google Shape;33;g3f9f07a6f6b_0_162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9f07a6f6b_0_166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400"/>
              <a:buNone/>
              <a:defRPr sz="6400"/>
            </a:lvl9pPr>
          </a:lstStyle>
          <a:p/>
        </p:txBody>
      </p:sp>
      <p:sp>
        <p:nvSpPr>
          <p:cNvPr id="36" name="Google Shape;36;g3f9f07a6f6b_0_166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g3f9f07a6f6b_0_169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g3f9f07a6f6b_0_169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40" name="Google Shape;40;g3f9f07a6f6b_0_169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1" name="Google Shape;41;g3f9f07a6f6b_0_169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2" name="Google Shape;42;g3f9f07a6f6b_0_16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9f07a6f6b_0_175"/>
          <p:cNvSpPr txBox="1"/>
          <p:nvPr>
            <p:ph idx="1" type="body"/>
          </p:nvPr>
        </p:nvSpPr>
        <p:spPr>
          <a:xfrm>
            <a:off x="415600" y="5640767"/>
            <a:ext cx="7998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45" name="Google Shape;45;g3f9f07a6f6b_0_175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9f07a6f6b_0_178"/>
          <p:cNvSpPr txBox="1"/>
          <p:nvPr>
            <p:ph hasCustomPrompt="1"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121900" lIns="121900" spcFirstLastPara="1" rIns="121900" wrap="square" tIns="121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0"/>
              <a:buNone/>
              <a:defRPr sz="16000"/>
            </a:lvl9pPr>
          </a:lstStyle>
          <a:p>
            <a:r>
              <a:t>xx%</a:t>
            </a:r>
          </a:p>
        </p:txBody>
      </p:sp>
      <p:sp>
        <p:nvSpPr>
          <p:cNvPr id="48" name="Google Shape;48;g3f9f07a6f6b_0_178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925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2pPr>
            <a:lvl3pPr indent="-34925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3pPr>
            <a:lvl4pPr indent="-34925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4pPr>
            <a:lvl5pPr indent="-34925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5pPr>
            <a:lvl6pPr indent="-34925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6pPr>
            <a:lvl7pPr indent="-34925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  <a:defRPr/>
            </a:lvl7pPr>
            <a:lvl8pPr indent="-34925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  <a:defRPr/>
            </a:lvl8pPr>
            <a:lvl9pPr indent="-34925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■"/>
              <a:defRPr/>
            </a:lvl9pPr>
          </a:lstStyle>
          <a:p/>
        </p:txBody>
      </p:sp>
      <p:sp>
        <p:nvSpPr>
          <p:cNvPr id="49" name="Google Shape;49;g3f9f07a6f6b_0_178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9f07a6f6b_0_139"/>
          <p:cNvSpPr txBox="1"/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Font typeface="Arial"/>
              <a:buNone/>
              <a:defRPr b="0" i="0" sz="3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f9f07a6f6b_0_139"/>
          <p:cNvSpPr txBox="1"/>
          <p:nvPr>
            <p:ph idx="1" type="body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rmAutofit/>
          </a:bodyPr>
          <a:lstStyle>
            <a:lvl1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Char char="●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92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92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92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92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92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●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92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○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92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900"/>
              <a:buFont typeface="Arial"/>
              <a:buChar char="■"/>
              <a:defRPr b="0" i="0" sz="1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g3f9f07a6f6b_0_139"/>
          <p:cNvSpPr txBox="1"/>
          <p:nvPr>
            <p:ph idx="12" type="sldNum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900" lIns="121900" spcFirstLastPara="1" rIns="121900" wrap="square" tIns="121900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4.png"/><Relationship Id="rId6" Type="http://schemas.openxmlformats.org/officeDocument/2006/relationships/image" Target="../media/image19.png"/><Relationship Id="rId7" Type="http://schemas.openxmlformats.org/officeDocument/2006/relationships/image" Target="../media/image3.png"/><Relationship Id="rId8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7.png"/><Relationship Id="rId13" Type="http://schemas.openxmlformats.org/officeDocument/2006/relationships/image" Target="../media/image8.png"/><Relationship Id="rId1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9" Type="http://schemas.openxmlformats.org/officeDocument/2006/relationships/image" Target="../media/image17.png"/><Relationship Id="rId14" Type="http://schemas.openxmlformats.org/officeDocument/2006/relationships/image" Target="../media/image18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brasa-eventos.vercel.app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o-event-v2.png" id="54" name="Google Shape;5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00D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1"/>
          <p:cNvSpPr/>
          <p:nvPr/>
        </p:nvSpPr>
        <p:spPr>
          <a:xfrm>
            <a:off x="0" y="0"/>
            <a:ext cx="7223760" cy="6858000"/>
          </a:xfrm>
          <a:prstGeom prst="rect">
            <a:avLst/>
          </a:prstGeom>
          <a:solidFill>
            <a:srgbClr val="100D0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rasa-meta-icon-1024.png"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368" y="566928"/>
            <a:ext cx="566928" cy="56692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/>
        </p:nvSpPr>
        <p:spPr>
          <a:xfrm>
            <a:off x="1353312" y="694944"/>
            <a:ext cx="1645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"/>
          <p:cNvSpPr/>
          <p:nvPr/>
        </p:nvSpPr>
        <p:spPr>
          <a:xfrm>
            <a:off x="658368" y="1426464"/>
            <a:ext cx="2286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PRESENTACIÓN EJECUTIVA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1"/>
          <p:cNvSpPr txBox="1"/>
          <p:nvPr/>
        </p:nvSpPr>
        <p:spPr>
          <a:xfrm>
            <a:off x="658368" y="2011680"/>
            <a:ext cx="5943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Planifica. Compara.</a:t>
            </a:r>
            <a:br>
              <a:rPr b="1" i="0" lang="en-US" sz="30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Celebra sin fricción.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1"/>
          <p:cNvSpPr txBox="1"/>
          <p:nvPr/>
        </p:nvSpPr>
        <p:spPr>
          <a:xfrm>
            <a:off x="685800" y="3493008"/>
            <a:ext cx="544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Simplificamos la organización de eventos conectando clientes y prestadores en una experiencia clara, confiable y trazable.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"/>
          <p:cNvSpPr txBox="1"/>
          <p:nvPr/>
        </p:nvSpPr>
        <p:spPr>
          <a:xfrm>
            <a:off x="685800" y="4800600"/>
            <a:ext cx="5303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"/>
          <p:cNvSpPr txBox="1"/>
          <p:nvPr/>
        </p:nvSpPr>
        <p:spPr>
          <a:xfrm>
            <a:off x="685800" y="5285232"/>
            <a:ext cx="53949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Duoc UC · Sede Puente Alto · 2026</a:t>
            </a:r>
            <a:b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Docente: Fabián Saldaño Pérez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1"/>
          <p:cNvSpPr txBox="1"/>
          <p:nvPr/>
        </p:nvSpPr>
        <p:spPr>
          <a:xfrm>
            <a:off x="685800" y="6016752"/>
            <a:ext cx="5669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Adriano Lecaros Duque · Bernardita Rivas Salinas · Felipe Molina Escobar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duoc-logo.png" id="65" name="Google Shape;6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0" y="384048"/>
            <a:ext cx="2377440" cy="566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70" name="Google Shape;7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2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 txBox="1"/>
          <p:nvPr/>
        </p:nvSpPr>
        <p:spPr>
          <a:xfrm>
            <a:off x="566928" y="941832"/>
            <a:ext cx="108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Tabla de contenidos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11064240" y="646480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2"/>
          <p:cNvSpPr/>
          <p:nvPr/>
        </p:nvSpPr>
        <p:spPr>
          <a:xfrm>
            <a:off x="658368" y="184708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2"/>
          <p:cNvSpPr txBox="1"/>
          <p:nvPr/>
        </p:nvSpPr>
        <p:spPr>
          <a:xfrm>
            <a:off x="1371600" y="19019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Portada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2"/>
          <p:cNvSpPr/>
          <p:nvPr/>
        </p:nvSpPr>
        <p:spPr>
          <a:xfrm>
            <a:off x="658368" y="238658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2"/>
          <p:cNvSpPr txBox="1"/>
          <p:nvPr/>
        </p:nvSpPr>
        <p:spPr>
          <a:xfrm>
            <a:off x="1371600" y="244144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Tabla de contenidos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/>
          <p:cNvSpPr/>
          <p:nvPr/>
        </p:nvSpPr>
        <p:spPr>
          <a:xfrm>
            <a:off x="658368" y="292608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"/>
          <p:cNvSpPr txBox="1"/>
          <p:nvPr/>
        </p:nvSpPr>
        <p:spPr>
          <a:xfrm>
            <a:off x="1371600" y="298094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Problemática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658368" y="3465576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"/>
          <p:cNvSpPr txBox="1"/>
          <p:nvPr/>
        </p:nvSpPr>
        <p:spPr>
          <a:xfrm>
            <a:off x="1371600" y="35204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Solución y 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658368" y="4005072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2"/>
          <p:cNvSpPr txBox="1"/>
          <p:nvPr/>
        </p:nvSpPr>
        <p:spPr>
          <a:xfrm>
            <a:off x="1371600" y="4059935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2"/>
          <p:cNvSpPr/>
          <p:nvPr/>
        </p:nvSpPr>
        <p:spPr>
          <a:xfrm>
            <a:off x="658368" y="454456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 txBox="1"/>
          <p:nvPr/>
        </p:nvSpPr>
        <p:spPr>
          <a:xfrm>
            <a:off x="1371600" y="4599431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2"/>
          <p:cNvSpPr/>
          <p:nvPr/>
        </p:nvSpPr>
        <p:spPr>
          <a:xfrm>
            <a:off x="658368" y="508406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/>
          <p:cNvSpPr txBox="1"/>
          <p:nvPr/>
        </p:nvSpPr>
        <p:spPr>
          <a:xfrm>
            <a:off x="1371600" y="51389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658368" y="562356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1100">
                <a:solidFill>
                  <a:srgbClr val="100D0C"/>
                </a:solidFill>
              </a:rPr>
              <a:t>8/9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 txBox="1"/>
          <p:nvPr/>
        </p:nvSpPr>
        <p:spPr>
          <a:xfrm>
            <a:off x="1371600" y="567842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Actividad 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"/>
          <p:cNvSpPr/>
          <p:nvPr/>
        </p:nvSpPr>
        <p:spPr>
          <a:xfrm>
            <a:off x="6190488" y="184708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lang="en-US" sz="1100">
                <a:solidFill>
                  <a:srgbClr val="100D0C"/>
                </a:solidFill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6903720" y="1901952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Casos de uso UML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6190488" y="238658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6903720" y="244144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Tecnologías y método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6190488" y="2926080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2"/>
          <p:cNvSpPr txBox="1"/>
          <p:nvPr/>
        </p:nvSpPr>
        <p:spPr>
          <a:xfrm>
            <a:off x="6903720" y="2980944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Riesgos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6190488" y="3465576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6903720" y="3520440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Carta Gantt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6190488" y="4005072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6903720" y="4059935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Costos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190488" y="4544568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6903720" y="4599431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>
            <a:off x="6190488" y="5084064"/>
            <a:ext cx="530352" cy="420624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1100">
                <a:solidFill>
                  <a:srgbClr val="100D0C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 txBox="1"/>
          <p:nvPr/>
        </p:nvSpPr>
        <p:spPr>
          <a:xfrm>
            <a:off x="6903720" y="5138928"/>
            <a:ext cx="4251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CONTEXTO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Problemática a resolver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594360" y="1847088"/>
            <a:ext cx="64923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Organizar un evento implica demasiado tiempo, incertidumbre y coordinación manual.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3"/>
          <p:cNvSpPr txBox="1"/>
          <p:nvPr/>
        </p:nvSpPr>
        <p:spPr>
          <a:xfrm>
            <a:off x="594360" y="2651760"/>
            <a:ext cx="64008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Los clientes deben buscar prestadores por separado, comparar información poco clara y coordinar disponibilidad mediante múltiples canales. Esto aumenta los errores, retrasa las decisiones y dificulta el control del evento.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94360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758952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3"/>
          <p:cNvSpPr txBox="1"/>
          <p:nvPr/>
        </p:nvSpPr>
        <p:spPr>
          <a:xfrm>
            <a:off x="94183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1371600" y="3840480"/>
            <a:ext cx="245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Tiempo perdido</a:t>
            </a:r>
            <a:endParaRPr b="1" i="0" sz="1600" u="none" cap="none" strike="noStrike">
              <a:solidFill>
                <a:srgbClr val="FFF8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96012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Buscar, contactar y comparar prestadores requiere demasiado esfuerzo.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4160520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4325112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450799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3B53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 txBox="1"/>
          <p:nvPr/>
        </p:nvSpPr>
        <p:spPr>
          <a:xfrm>
            <a:off x="4937759" y="3840480"/>
            <a:ext cx="2450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Decisiones inciertas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452628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Precios, servicios y disponibilidad no siempre se presentan de forma clara.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7726679" y="3657600"/>
            <a:ext cx="3429000" cy="15087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891271" y="3822191"/>
            <a:ext cx="73152" cy="1179576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8074152" y="3877056"/>
            <a:ext cx="438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0525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8503925" y="3840475"/>
            <a:ext cx="26517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Coordinación fragmentada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 txBox="1"/>
          <p:nvPr/>
        </p:nvSpPr>
        <p:spPr>
          <a:xfrm>
            <a:off x="8092440" y="4315968"/>
            <a:ext cx="283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Solicitudes, respuestas y cambios quedan distribuidos entre mensajes y llamadas.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7882127" y="2048256"/>
            <a:ext cx="292608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CLIENTE + PRESTADOR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7936992" y="2633472"/>
            <a:ext cx="2834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Un problema de coordinación de punta a punta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4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PROPUESTA DE VALOR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 txBox="1"/>
          <p:nvPr/>
        </p:nvSpPr>
        <p:spPr>
          <a:xfrm>
            <a:off x="594360" y="1847088"/>
            <a:ext cx="49836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i="0" lang="en-US" sz="2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Una forma simple y confiable de organizar un evento completo.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 txBox="1"/>
          <p:nvPr/>
        </p:nvSpPr>
        <p:spPr>
          <a:xfrm>
            <a:off x="594360" y="2665818"/>
            <a:ext cx="4983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Brasa reúne prestadores, servicios, precios, cobertura, disponibilidad y reservas en un solo lugar, permitiendo tomar mejores decisiones y mantener el control del evento.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4"/>
          <p:cNvSpPr/>
          <p:nvPr/>
        </p:nvSpPr>
        <p:spPr>
          <a:xfrm>
            <a:off x="594360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758952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4"/>
          <p:cNvSpPr txBox="1"/>
          <p:nvPr/>
        </p:nvSpPr>
        <p:spPr>
          <a:xfrm>
            <a:off x="960120" y="397764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4"/>
          <p:cNvSpPr txBox="1"/>
          <p:nvPr/>
        </p:nvSpPr>
        <p:spPr>
          <a:xfrm>
            <a:off x="960120" y="4307213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Encuentra, compara y coordina los servicios que necesita sin recorrer múltiples canales.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3182112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3346704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4"/>
          <p:cNvSpPr txBox="1"/>
          <p:nvPr/>
        </p:nvSpPr>
        <p:spPr>
          <a:xfrm>
            <a:off x="3547872" y="3977640"/>
            <a:ext cx="18105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Prestador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 txBox="1"/>
          <p:nvPr/>
        </p:nvSpPr>
        <p:spPr>
          <a:xfrm>
            <a:off x="3547872" y="4307213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Centraliza sus servicios, disponibilidad y solicitudes para gestionar mejor su negocio.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5769864" y="3794760"/>
            <a:ext cx="2377440" cy="1371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/>
          <p:nvPr/>
        </p:nvSpPr>
        <p:spPr>
          <a:xfrm>
            <a:off x="5934455" y="3959352"/>
            <a:ext cx="73152" cy="1042416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4"/>
          <p:cNvSpPr txBox="1"/>
          <p:nvPr/>
        </p:nvSpPr>
        <p:spPr>
          <a:xfrm>
            <a:off x="6135624" y="3977640"/>
            <a:ext cx="181051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 txBox="1"/>
          <p:nvPr/>
        </p:nvSpPr>
        <p:spPr>
          <a:xfrm>
            <a:off x="6135624" y="4307213"/>
            <a:ext cx="1783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Supervisa la operación y mantiene la trazabilidad de usuarios, prestadores y reservas.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8613648" y="1828800"/>
            <a:ext cx="2560320" cy="3337560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4"/>
          <p:cNvSpPr txBox="1"/>
          <p:nvPr/>
        </p:nvSpPr>
        <p:spPr>
          <a:xfrm>
            <a:off x="8887968" y="2148840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 txBox="1"/>
          <p:nvPr/>
        </p:nvSpPr>
        <p:spPr>
          <a:xfrm>
            <a:off x="8851392" y="2505448"/>
            <a:ext cx="20847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Reducir la incertidumbre y el trabajo manual al organizar un evento.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 txBox="1"/>
          <p:nvPr/>
        </p:nvSpPr>
        <p:spPr>
          <a:xfrm>
            <a:off x="8887843" y="4453131"/>
            <a:ext cx="2011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Más claridad, menos coordinación y mejores decisiones.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70" name="Google Shape;17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5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DEFINICIÓN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Alcances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5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94360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758952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 txBox="1"/>
          <p:nvPr/>
        </p:nvSpPr>
        <p:spPr>
          <a:xfrm>
            <a:off x="960120" y="2121408"/>
            <a:ext cx="286207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Qué hace 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 txBox="1"/>
          <p:nvPr/>
        </p:nvSpPr>
        <p:spPr>
          <a:xfrm>
            <a:off x="960120" y="2596896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Autenticación y perfiles por rol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Prestadores multicategoría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Catálogo, precios y comparación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Planificación asistida del evento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Cobertura y disponibilidad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Solicitudes y reservas por 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4160520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4325112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 txBox="1"/>
          <p:nvPr/>
        </p:nvSpPr>
        <p:spPr>
          <a:xfrm>
            <a:off x="4526280" y="2121408"/>
            <a:ext cx="286207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Qué no contempla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 txBox="1"/>
          <p:nvPr/>
        </p:nvSpPr>
        <p:spPr>
          <a:xfrm>
            <a:off x="4526280" y="2596896"/>
            <a:ext cx="2834640" cy="2697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Producción física de los eventos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Contratación laboral de prestadores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Gestión contable empresarial completa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Aplicación móvil nativa en esta fase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Operación fuera del alcance aprobado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7726679" y="1938528"/>
            <a:ext cx="3429000" cy="352044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7891271" y="2103120"/>
            <a:ext cx="73152" cy="3191256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 txBox="1"/>
          <p:nvPr/>
        </p:nvSpPr>
        <p:spPr>
          <a:xfrm>
            <a:off x="8092440" y="2121408"/>
            <a:ext cx="2862071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Restricciones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5"/>
          <p:cNvSpPr txBox="1"/>
          <p:nvPr/>
        </p:nvSpPr>
        <p:spPr>
          <a:xfrm>
            <a:off x="8092440" y="2596896"/>
            <a:ext cx="2834700" cy="10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18 semanas académicas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Dependencia de servicios externos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Límites de planes cloud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Disponibilidad del equipo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Alcance y cambios controlados</a:t>
            </a: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• Despliegue web con conexión a Internet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"/>
          <p:cNvSpPr txBox="1"/>
          <p:nvPr/>
        </p:nvSpPr>
        <p:spPr>
          <a:xfrm>
            <a:off x="658368" y="5806440"/>
            <a:ext cx="10241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Fase 2: implementación, integración y validación con evidencia verificable.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194" name="Google Shape;1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Lista de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603504" y="182880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22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03504" y="2359152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R.1–R.6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1874519" y="2386584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Cuentas, autenticación, perfiles, roles y permisos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03504" y="3072384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R.7–R.14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6"/>
          <p:cNvSpPr txBox="1"/>
          <p:nvPr/>
        </p:nvSpPr>
        <p:spPr>
          <a:xfrm>
            <a:off x="1874519" y="3099816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Multicategoría, servicios, precios, duración, agenda y cobertura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603504" y="3785616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R.15–R.21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1874519" y="3813048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Planificación, búsqueda, comparación, IA, costos y reservas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603504" y="4498848"/>
            <a:ext cx="1143000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R.22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1874519" y="4526280"/>
            <a:ext cx="40690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Administración de la plataforma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6"/>
          <p:cNvSpPr txBox="1"/>
          <p:nvPr/>
        </p:nvSpPr>
        <p:spPr>
          <a:xfrm>
            <a:off x="6327648" y="182880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1" i="0" lang="en-US" sz="1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7 no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6327648" y="2359152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7223760" y="23957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Seguridad y acceso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8842248" y="2359152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9738360" y="2395728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Integridad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6327648" y="3054096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7223760" y="30906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Rendimiento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8842248" y="3054096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9738360" y="3090672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Disponibilidad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6327648" y="3749039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 txBox="1"/>
          <p:nvPr/>
        </p:nvSpPr>
        <p:spPr>
          <a:xfrm>
            <a:off x="7223760" y="378561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Usabilidad responsive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8842248" y="3749039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6"/>
          <p:cNvSpPr txBox="1"/>
          <p:nvPr/>
        </p:nvSpPr>
        <p:spPr>
          <a:xfrm>
            <a:off x="9738360" y="3785615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Trazabilidad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6327648" y="4443984"/>
            <a:ext cx="77724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R.29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7223760" y="4480560"/>
            <a:ext cx="15544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Escalabilidad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 txBox="1"/>
          <p:nvPr/>
        </p:nvSpPr>
        <p:spPr>
          <a:xfrm>
            <a:off x="621792" y="5760720"/>
            <a:ext cx="10469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Fuente: Planilla de Requerimientos BRASA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230" name="Google Shape;2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7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MODELO DE DATOS RELACIONAL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7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658368" y="196596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 txBox="1"/>
          <p:nvPr/>
        </p:nvSpPr>
        <p:spPr>
          <a:xfrm>
            <a:off x="786384" y="2130552"/>
            <a:ext cx="1709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profiles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 txBox="1"/>
          <p:nvPr/>
        </p:nvSpPr>
        <p:spPr>
          <a:xfrm>
            <a:off x="786384" y="2478024"/>
            <a:ext cx="1709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role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971800" y="1965960"/>
            <a:ext cx="205740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3099816" y="2130552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service_providers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 txBox="1"/>
          <p:nvPr/>
        </p:nvSpPr>
        <p:spPr>
          <a:xfrm>
            <a:off x="3099816" y="2478024"/>
            <a:ext cx="1801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owner_id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486400" y="19659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 txBox="1"/>
          <p:nvPr/>
        </p:nvSpPr>
        <p:spPr>
          <a:xfrm>
            <a:off x="5614416" y="21305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provider_categories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 txBox="1"/>
          <p:nvPr/>
        </p:nvSpPr>
        <p:spPr>
          <a:xfrm>
            <a:off x="5614416" y="24780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provider_id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8229600" y="19659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 txBox="1"/>
          <p:nvPr/>
        </p:nvSpPr>
        <p:spPr>
          <a:xfrm>
            <a:off x="8357616" y="21305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provider_services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 txBox="1"/>
          <p:nvPr/>
        </p:nvSpPr>
        <p:spPr>
          <a:xfrm>
            <a:off x="8357616" y="24780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provider_id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486400" y="40233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 txBox="1"/>
          <p:nvPr/>
        </p:nvSpPr>
        <p:spPr>
          <a:xfrm>
            <a:off x="5614416" y="41879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provider_availability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7"/>
          <p:cNvSpPr txBox="1"/>
          <p:nvPr/>
        </p:nvSpPr>
        <p:spPr>
          <a:xfrm>
            <a:off x="5614416" y="45354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provider_id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658368" y="402336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 txBox="1"/>
          <p:nvPr/>
        </p:nvSpPr>
        <p:spPr>
          <a:xfrm>
            <a:off x="786384" y="4187952"/>
            <a:ext cx="170992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bookings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 txBox="1"/>
          <p:nvPr/>
        </p:nvSpPr>
        <p:spPr>
          <a:xfrm>
            <a:off x="786384" y="4535424"/>
            <a:ext cx="170992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client_id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971800" y="4023360"/>
            <a:ext cx="205740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 txBox="1"/>
          <p:nvPr/>
        </p:nvSpPr>
        <p:spPr>
          <a:xfrm>
            <a:off x="3099816" y="4187952"/>
            <a:ext cx="180136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booking_items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 txBox="1"/>
          <p:nvPr/>
        </p:nvSpPr>
        <p:spPr>
          <a:xfrm>
            <a:off x="3099816" y="4535424"/>
            <a:ext cx="180136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id PK · booking_id FK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8229600" y="402336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2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 txBox="1"/>
          <p:nvPr/>
        </p:nvSpPr>
        <p:spPr>
          <a:xfrm>
            <a:off x="8357616" y="4187952"/>
            <a:ext cx="1892808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gallery / coverage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 txBox="1"/>
          <p:nvPr/>
        </p:nvSpPr>
        <p:spPr>
          <a:xfrm>
            <a:off x="8357616" y="4535424"/>
            <a:ext cx="1892808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provider_id FK · category_slug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1" name="Google Shape;261;p7"/>
          <p:cNvCxnSpPr/>
          <p:nvPr/>
        </p:nvCxnSpPr>
        <p:spPr>
          <a:xfrm>
            <a:off x="2624328" y="2450592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2" name="Google Shape;262;p7"/>
          <p:cNvCxnSpPr/>
          <p:nvPr/>
        </p:nvCxnSpPr>
        <p:spPr>
          <a:xfrm>
            <a:off x="5029200" y="2450592"/>
            <a:ext cx="45720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3" name="Google Shape;263;p7"/>
          <p:cNvCxnSpPr/>
          <p:nvPr/>
        </p:nvCxnSpPr>
        <p:spPr>
          <a:xfrm>
            <a:off x="7635240" y="2450592"/>
            <a:ext cx="594360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4" name="Google Shape;264;p7"/>
          <p:cNvCxnSpPr/>
          <p:nvPr/>
        </p:nvCxnSpPr>
        <p:spPr>
          <a:xfrm>
            <a:off x="1645920" y="2926080"/>
            <a:ext cx="0" cy="1097280"/>
          </a:xfrm>
          <a:prstGeom prst="straightConnector1">
            <a:avLst/>
          </a:prstGeom>
          <a:noFill/>
          <a:ln cap="flat" cmpd="sng" w="12700">
            <a:solidFill>
              <a:srgbClr val="BDAEA6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65" name="Google Shape;265;p7"/>
          <p:cNvCxnSpPr/>
          <p:nvPr/>
        </p:nvCxnSpPr>
        <p:spPr>
          <a:xfrm>
            <a:off x="2624328" y="4498848"/>
            <a:ext cx="347472" cy="0"/>
          </a:xfrm>
          <a:prstGeom prst="straightConnector1">
            <a:avLst/>
          </a:prstGeom>
          <a:noFill/>
          <a:ln cap="flat" cmpd="sng" w="190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6" name="Google Shape;266;p7"/>
          <p:cNvSpPr txBox="1"/>
          <p:nvPr/>
        </p:nvSpPr>
        <p:spPr>
          <a:xfrm>
            <a:off x="685800" y="5623560"/>
            <a:ext cx="9966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PostgreSQL/Supabase mantiene precios, relaciones y reservas como fuente de verdad; RLS controla el acceso por propietario y rol.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7" name="Google Shape;267;p7"/>
          <p:cNvCxnSpPr/>
          <p:nvPr/>
        </p:nvCxnSpPr>
        <p:spPr>
          <a:xfrm>
            <a:off x="6565392" y="2926080"/>
            <a:ext cx="0" cy="1097280"/>
          </a:xfrm>
          <a:prstGeom prst="straightConnector1">
            <a:avLst/>
          </a:prstGeom>
          <a:noFill/>
          <a:ln cap="flat" cmpd="sng" w="19050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7"/>
          <p:cNvSpPr txBox="1"/>
          <p:nvPr/>
        </p:nvSpPr>
        <p:spPr>
          <a:xfrm>
            <a:off x="960120" y="5148072"/>
            <a:ext cx="101955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Relaciones 1:N · usuario→prestadores · categoría→servicios/agenda · reserva→ítems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273" name="Google Shape;27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9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DIAGRAMA DE ACTIVIDAD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9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9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9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9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502920" y="2743200"/>
            <a:ext cx="164592" cy="164592"/>
          </a:xfrm>
          <a:prstGeom prst="ellipse">
            <a:avLst/>
          </a:prstGeom>
          <a:solidFill>
            <a:srgbClr val="F4510B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868680" y="2423160"/>
            <a:ext cx="1554480" cy="82296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9"/>
          <p:cNvSpPr txBox="1"/>
          <p:nvPr/>
        </p:nvSpPr>
        <p:spPr>
          <a:xfrm>
            <a:off x="960120" y="262432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Definir evento</a:t>
            </a:r>
            <a:endParaRPr/>
          </a:p>
        </p:txBody>
      </p:sp>
      <p:sp>
        <p:nvSpPr>
          <p:cNvPr id="283" name="Google Shape;283;p9"/>
          <p:cNvSpPr txBox="1"/>
          <p:nvPr/>
        </p:nvSpPr>
        <p:spPr>
          <a:xfrm>
            <a:off x="1005839" y="21579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2697480" y="2423160"/>
            <a:ext cx="1554480" cy="82296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9"/>
          <p:cNvSpPr txBox="1"/>
          <p:nvPr/>
        </p:nvSpPr>
        <p:spPr>
          <a:xfrm>
            <a:off x="2788913" y="2536461"/>
            <a:ext cx="13716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Elegir servicios</a:t>
            </a:r>
            <a:endParaRPr/>
          </a:p>
        </p:txBody>
      </p:sp>
      <p:sp>
        <p:nvSpPr>
          <p:cNvPr id="286" name="Google Shape;286;p9"/>
          <p:cNvSpPr txBox="1"/>
          <p:nvPr/>
        </p:nvSpPr>
        <p:spPr>
          <a:xfrm>
            <a:off x="2834640" y="21579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4617720" y="2423160"/>
            <a:ext cx="1554480" cy="82296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9"/>
          <p:cNvSpPr txBox="1"/>
          <p:nvPr/>
        </p:nvSpPr>
        <p:spPr>
          <a:xfrm>
            <a:off x="4709159" y="262432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Validar agenda</a:t>
            </a:r>
            <a:endParaRPr/>
          </a:p>
        </p:txBody>
      </p:sp>
      <p:sp>
        <p:nvSpPr>
          <p:cNvPr id="289" name="Google Shape;289;p9"/>
          <p:cNvSpPr txBox="1"/>
          <p:nvPr/>
        </p:nvSpPr>
        <p:spPr>
          <a:xfrm>
            <a:off x="4754880" y="21579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/>
          </a:p>
        </p:txBody>
      </p:sp>
      <p:sp>
        <p:nvSpPr>
          <p:cNvPr id="290" name="Google Shape;290;p9"/>
          <p:cNvSpPr/>
          <p:nvPr/>
        </p:nvSpPr>
        <p:spPr>
          <a:xfrm>
            <a:off x="6675120" y="2423160"/>
            <a:ext cx="1554480" cy="82296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6766559" y="262432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Crear solicitud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6812280" y="21579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Sistema</a:t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8549640" y="2423160"/>
            <a:ext cx="1554480" cy="82296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8641080" y="2624328"/>
            <a:ext cx="13716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Responder</a:t>
            </a:r>
            <a:endParaRPr/>
          </a:p>
        </p:txBody>
      </p:sp>
      <p:sp>
        <p:nvSpPr>
          <p:cNvPr id="295" name="Google Shape;295;p9"/>
          <p:cNvSpPr txBox="1"/>
          <p:nvPr/>
        </p:nvSpPr>
        <p:spPr>
          <a:xfrm>
            <a:off x="8686800" y="2157984"/>
            <a:ext cx="12801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Prestador</a:t>
            </a:r>
            <a:endParaRPr/>
          </a:p>
        </p:txBody>
      </p:sp>
      <p:cxnSp>
        <p:nvCxnSpPr>
          <p:cNvPr id="296" name="Google Shape;296;p9"/>
          <p:cNvCxnSpPr/>
          <p:nvPr/>
        </p:nvCxnSpPr>
        <p:spPr>
          <a:xfrm>
            <a:off x="667512" y="2825496"/>
            <a:ext cx="201168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7" name="Google Shape;297;p9"/>
          <p:cNvCxnSpPr/>
          <p:nvPr/>
        </p:nvCxnSpPr>
        <p:spPr>
          <a:xfrm>
            <a:off x="2423160" y="2825496"/>
            <a:ext cx="274320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8" name="Google Shape;298;p9"/>
          <p:cNvCxnSpPr/>
          <p:nvPr/>
        </p:nvCxnSpPr>
        <p:spPr>
          <a:xfrm>
            <a:off x="4251960" y="2825496"/>
            <a:ext cx="365760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99" name="Google Shape;299;p9"/>
          <p:cNvCxnSpPr/>
          <p:nvPr/>
        </p:nvCxnSpPr>
        <p:spPr>
          <a:xfrm>
            <a:off x="6172200" y="2825496"/>
            <a:ext cx="502920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0" name="Google Shape;300;p9"/>
          <p:cNvCxnSpPr/>
          <p:nvPr/>
        </p:nvCxnSpPr>
        <p:spPr>
          <a:xfrm>
            <a:off x="8229600" y="2825496"/>
            <a:ext cx="320040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1" name="Google Shape;301;p9"/>
          <p:cNvSpPr/>
          <p:nvPr/>
        </p:nvSpPr>
        <p:spPr>
          <a:xfrm>
            <a:off x="10369296" y="2450592"/>
            <a:ext cx="768096" cy="768096"/>
          </a:xfrm>
          <a:prstGeom prst="diamond">
            <a:avLst/>
          </a:prstGeom>
          <a:solidFill>
            <a:srgbClr val="F4510B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9"/>
          <p:cNvSpPr txBox="1"/>
          <p:nvPr/>
        </p:nvSpPr>
        <p:spPr>
          <a:xfrm>
            <a:off x="10415016" y="2688336"/>
            <a:ext cx="676656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¿Acepta?</a:t>
            </a:r>
            <a:endParaRPr/>
          </a:p>
        </p:txBody>
      </p:sp>
      <p:cxnSp>
        <p:nvCxnSpPr>
          <p:cNvPr id="303" name="Google Shape;303;p9"/>
          <p:cNvCxnSpPr/>
          <p:nvPr/>
        </p:nvCxnSpPr>
        <p:spPr>
          <a:xfrm>
            <a:off x="10104120" y="2825496"/>
            <a:ext cx="265176" cy="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04" name="Google Shape;304;p9"/>
          <p:cNvSpPr/>
          <p:nvPr/>
        </p:nvSpPr>
        <p:spPr>
          <a:xfrm>
            <a:off x="8412480" y="4315968"/>
            <a:ext cx="1691640" cy="64008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9"/>
          <p:cNvSpPr txBox="1"/>
          <p:nvPr/>
        </p:nvSpPr>
        <p:spPr>
          <a:xfrm>
            <a:off x="8522208" y="4443984"/>
            <a:ext cx="1481328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Liberar horario</a:t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10378440" y="4315968"/>
            <a:ext cx="1417320" cy="640080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10451592" y="4443984"/>
            <a:ext cx="1261872" cy="356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Pagar</a:t>
            </a:r>
            <a:endParaRPr/>
          </a:p>
        </p:txBody>
      </p:sp>
      <p:cxnSp>
        <p:nvCxnSpPr>
          <p:cNvPr id="308" name="Google Shape;308;p9"/>
          <p:cNvCxnSpPr/>
          <p:nvPr/>
        </p:nvCxnSpPr>
        <p:spPr>
          <a:xfrm flipH="1">
            <a:off x="9253728" y="3218688"/>
            <a:ext cx="1289304" cy="109728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09" name="Google Shape;309;p9"/>
          <p:cNvCxnSpPr/>
          <p:nvPr/>
        </p:nvCxnSpPr>
        <p:spPr>
          <a:xfrm>
            <a:off x="10954512" y="3218688"/>
            <a:ext cx="128016" cy="1097280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10" name="Google Shape;310;p9"/>
          <p:cNvCxnSpPr/>
          <p:nvPr/>
        </p:nvCxnSpPr>
        <p:spPr>
          <a:xfrm>
            <a:off x="9253728" y="495604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1" name="Google Shape;311;p9"/>
          <p:cNvSpPr/>
          <p:nvPr/>
        </p:nvSpPr>
        <p:spPr>
          <a:xfrm>
            <a:off x="9134855" y="5239512"/>
            <a:ext cx="237744" cy="237744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9180576" y="5285232"/>
            <a:ext cx="146304" cy="146304"/>
          </a:xfrm>
          <a:prstGeom prst="ellipse">
            <a:avLst/>
          </a:prstGeom>
          <a:solidFill>
            <a:srgbClr val="FAF7F5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3" name="Google Shape;313;p9"/>
          <p:cNvCxnSpPr/>
          <p:nvPr/>
        </p:nvCxnSpPr>
        <p:spPr>
          <a:xfrm>
            <a:off x="11082528" y="4956048"/>
            <a:ext cx="0" cy="283464"/>
          </a:xfrm>
          <a:prstGeom prst="straightConnector1">
            <a:avLst/>
          </a:prstGeom>
          <a:noFill/>
          <a:ln cap="flat" cmpd="sng" w="190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14" name="Google Shape;314;p9"/>
          <p:cNvSpPr/>
          <p:nvPr/>
        </p:nvSpPr>
        <p:spPr>
          <a:xfrm>
            <a:off x="10963655" y="5239512"/>
            <a:ext cx="237744" cy="237744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11009376" y="5285232"/>
            <a:ext cx="146304" cy="146304"/>
          </a:xfrm>
          <a:prstGeom prst="ellipse">
            <a:avLst/>
          </a:prstGeom>
          <a:solidFill>
            <a:srgbClr val="FAF7F5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8915400" y="3849624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[no]</a:t>
            </a:r>
            <a:endParaRPr/>
          </a:p>
        </p:txBody>
      </p:sp>
      <p:sp>
        <p:nvSpPr>
          <p:cNvPr id="317" name="Google Shape;317;p9"/>
          <p:cNvSpPr txBox="1"/>
          <p:nvPr/>
        </p:nvSpPr>
        <p:spPr>
          <a:xfrm>
            <a:off x="11000232" y="3785615"/>
            <a:ext cx="5669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[sí]</a:t>
            </a:r>
            <a:endParaRPr/>
          </a:p>
        </p:txBody>
      </p:sp>
      <p:sp>
        <p:nvSpPr>
          <p:cNvPr id="318" name="Google Shape;318;p9"/>
          <p:cNvSpPr txBox="1"/>
          <p:nvPr/>
        </p:nvSpPr>
        <p:spPr>
          <a:xfrm>
            <a:off x="841248" y="5705856"/>
            <a:ext cx="106070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Brasa valida cobertura, precios y conflictos; tras el pago confirma la reserva y habilita la mensajería.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23" name="Google Shape;323;h5c34b66770dd4b9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h5c34b66770dd4b94_0_0"/>
          <p:cNvSpPr txBox="1"/>
          <p:nvPr/>
        </p:nvSpPr>
        <p:spPr>
          <a:xfrm>
            <a:off x="896112" y="356616"/>
            <a:ext cx="14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h5c34b66770dd4b94_0_0"/>
          <p:cNvSpPr/>
          <p:nvPr/>
        </p:nvSpPr>
        <p:spPr>
          <a:xfrm>
            <a:off x="9281160" y="310896"/>
            <a:ext cx="22404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DIAGRAMA DE ACTIVIDAD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h5c34b66770dd4b94_0_0"/>
          <p:cNvSpPr txBox="1"/>
          <p:nvPr/>
        </p:nvSpPr>
        <p:spPr>
          <a:xfrm>
            <a:off x="566928" y="795917"/>
            <a:ext cx="108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Mockups asociados al flujo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h5c34b66770dd4b94_0_0"/>
          <p:cNvSpPr/>
          <p:nvPr/>
        </p:nvSpPr>
        <p:spPr>
          <a:xfrm>
            <a:off x="566928" y="1426853"/>
            <a:ext cx="658500" cy="50400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h5c34b66770dd4b94_0_0"/>
          <p:cNvSpPr txBox="1"/>
          <p:nvPr/>
        </p:nvSpPr>
        <p:spPr>
          <a:xfrm>
            <a:off x="566928" y="6510528"/>
            <a:ext cx="411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h5c34b66770dd4b94_0_0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="1" lang="en-US" sz="900">
                <a:solidFill>
                  <a:srgbClr val="FF5A1F"/>
                </a:solidFill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h5c34b66770dd4b9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775" y="1925778"/>
            <a:ext cx="3000000" cy="2142857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h5c34b66770dd4b94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96000" y="1919222"/>
            <a:ext cx="2999995" cy="214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h5c34b66770dd4b94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448225" y="1919225"/>
            <a:ext cx="3000000" cy="2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h5c34b66770dd4b94_0_0"/>
          <p:cNvSpPr txBox="1"/>
          <p:nvPr/>
        </p:nvSpPr>
        <p:spPr>
          <a:xfrm>
            <a:off x="743775" y="1421250"/>
            <a:ext cx="3000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Figura 1. Mockup de la página inicial y catálogo de categorías.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4" name="Google Shape;334;h5c34b66770dd4b94_0_0"/>
          <p:cNvSpPr txBox="1"/>
          <p:nvPr/>
        </p:nvSpPr>
        <p:spPr>
          <a:xfrm>
            <a:off x="4596000" y="1421250"/>
            <a:ext cx="3000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Figura 5. Mockup del perfil público y selección de servicios.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35" name="Google Shape;335;h5c34b66770dd4b94_0_0"/>
          <p:cNvSpPr txBox="1"/>
          <p:nvPr/>
        </p:nvSpPr>
        <p:spPr>
          <a:xfrm>
            <a:off x="8448225" y="1500897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Figura 6. Mockup del módulo de eventos y reservas.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6" name="Google Shape;336;h5c34b66770dd4b94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0125" y="4587475"/>
            <a:ext cx="3000000" cy="21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h5c34b66770dd4b94_0_0"/>
          <p:cNvSpPr txBox="1"/>
          <p:nvPr/>
        </p:nvSpPr>
        <p:spPr>
          <a:xfrm>
            <a:off x="2920125" y="4200188"/>
            <a:ext cx="3000000" cy="48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Figura 7. Mockup del dashboard y solicitudes del prestador.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338" name="Google Shape;338;h5c34b66770dd4b94_0_0" title="11-pago-confirmacion-reserva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92188" y="4587475"/>
            <a:ext cx="2999999" cy="2142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h5c34b66770dd4b94_0_0"/>
          <p:cNvSpPr txBox="1"/>
          <p:nvPr/>
        </p:nvSpPr>
        <p:spPr>
          <a:xfrm>
            <a:off x="6992188" y="4200188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Figura 11. Mockup de pago y </a:t>
            </a: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confirmación</a:t>
            </a:r>
            <a:r>
              <a:rPr i="1" lang="en-US" sz="900">
                <a:solidFill>
                  <a:schemeClr val="lt1"/>
                </a:solidFill>
                <a:latin typeface="Aptos"/>
                <a:ea typeface="Aptos"/>
                <a:cs typeface="Aptos"/>
                <a:sym typeface="Aptos"/>
              </a:rPr>
              <a:t>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344" name="Google Shape;34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8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8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DIAGRAMA DE CASOS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8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8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8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5A1F"/>
                </a:solidFill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8"/>
          <p:cNvSpPr/>
          <p:nvPr/>
        </p:nvSpPr>
        <p:spPr>
          <a:xfrm>
            <a:off x="2651760" y="1810512"/>
            <a:ext cx="8732520" cy="4151376"/>
          </a:xfrm>
          <a:prstGeom prst="rect">
            <a:avLst/>
          </a:prstGeom>
          <a:solidFill>
            <a:srgbClr val="1C1614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8"/>
          <p:cNvSpPr txBox="1"/>
          <p:nvPr/>
        </p:nvSpPr>
        <p:spPr>
          <a:xfrm>
            <a:off x="2880360" y="1865376"/>
            <a:ext cx="3657600" cy="265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Sistema Brasa</a:t>
            </a:r>
            <a:endParaRPr/>
          </a:p>
        </p:txBody>
      </p:sp>
      <p:sp>
        <p:nvSpPr>
          <p:cNvPr id="353" name="Google Shape;353;p8"/>
          <p:cNvSpPr/>
          <p:nvPr/>
        </p:nvSpPr>
        <p:spPr>
          <a:xfrm>
            <a:off x="713232" y="2468880"/>
            <a:ext cx="146304" cy="146304"/>
          </a:xfrm>
          <a:prstGeom prst="ellipse">
            <a:avLst/>
          </a:prstGeom>
          <a:solidFill>
            <a:srgbClr val="FAF7F5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8"/>
          <p:cNvCxnSpPr/>
          <p:nvPr/>
        </p:nvCxnSpPr>
        <p:spPr>
          <a:xfrm>
            <a:off x="786384" y="2615184"/>
            <a:ext cx="0" cy="393192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5" name="Google Shape;355;p8"/>
          <p:cNvCxnSpPr/>
          <p:nvPr/>
        </p:nvCxnSpPr>
        <p:spPr>
          <a:xfrm>
            <a:off x="548640" y="2807208"/>
            <a:ext cx="475488" cy="0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6" name="Google Shape;356;p8"/>
          <p:cNvCxnSpPr/>
          <p:nvPr/>
        </p:nvCxnSpPr>
        <p:spPr>
          <a:xfrm flipH="1">
            <a:off x="576072" y="300837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57" name="Google Shape;357;p8"/>
          <p:cNvCxnSpPr/>
          <p:nvPr/>
        </p:nvCxnSpPr>
        <p:spPr>
          <a:xfrm>
            <a:off x="786384" y="300837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58" name="Google Shape;358;p8"/>
          <p:cNvSpPr txBox="1"/>
          <p:nvPr/>
        </p:nvSpPr>
        <p:spPr>
          <a:xfrm>
            <a:off x="1143000" y="267004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Cliente</a:t>
            </a:r>
            <a:endParaRPr/>
          </a:p>
        </p:txBody>
      </p:sp>
      <p:sp>
        <p:nvSpPr>
          <p:cNvPr id="359" name="Google Shape;359;p8"/>
          <p:cNvSpPr/>
          <p:nvPr/>
        </p:nvSpPr>
        <p:spPr>
          <a:xfrm>
            <a:off x="713232" y="3657600"/>
            <a:ext cx="146304" cy="146304"/>
          </a:xfrm>
          <a:prstGeom prst="ellipse">
            <a:avLst/>
          </a:prstGeom>
          <a:solidFill>
            <a:srgbClr val="FAF7F5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8"/>
          <p:cNvCxnSpPr/>
          <p:nvPr/>
        </p:nvCxnSpPr>
        <p:spPr>
          <a:xfrm>
            <a:off x="786384" y="3803904"/>
            <a:ext cx="0" cy="393192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1" name="Google Shape;361;p8"/>
          <p:cNvCxnSpPr/>
          <p:nvPr/>
        </p:nvCxnSpPr>
        <p:spPr>
          <a:xfrm>
            <a:off x="548640" y="3995928"/>
            <a:ext cx="475488" cy="0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2" name="Google Shape;362;p8"/>
          <p:cNvCxnSpPr/>
          <p:nvPr/>
        </p:nvCxnSpPr>
        <p:spPr>
          <a:xfrm flipH="1">
            <a:off x="576072" y="419709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3" name="Google Shape;363;p8"/>
          <p:cNvCxnSpPr/>
          <p:nvPr/>
        </p:nvCxnSpPr>
        <p:spPr>
          <a:xfrm>
            <a:off x="786384" y="419709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64" name="Google Shape;364;p8"/>
          <p:cNvSpPr txBox="1"/>
          <p:nvPr/>
        </p:nvSpPr>
        <p:spPr>
          <a:xfrm>
            <a:off x="1143000" y="385876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Prestador</a:t>
            </a:r>
            <a:endParaRPr/>
          </a:p>
        </p:txBody>
      </p:sp>
      <p:sp>
        <p:nvSpPr>
          <p:cNvPr id="365" name="Google Shape;365;p8"/>
          <p:cNvSpPr/>
          <p:nvPr/>
        </p:nvSpPr>
        <p:spPr>
          <a:xfrm>
            <a:off x="713232" y="4846320"/>
            <a:ext cx="146304" cy="146304"/>
          </a:xfrm>
          <a:prstGeom prst="ellipse">
            <a:avLst/>
          </a:prstGeom>
          <a:solidFill>
            <a:srgbClr val="FAF7F5"/>
          </a:solidFill>
          <a:ln cap="flat" cmpd="sng" w="9525">
            <a:solidFill>
              <a:srgbClr val="3B7FF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6" name="Google Shape;366;p8"/>
          <p:cNvCxnSpPr/>
          <p:nvPr/>
        </p:nvCxnSpPr>
        <p:spPr>
          <a:xfrm>
            <a:off x="786384" y="4992624"/>
            <a:ext cx="0" cy="393192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7" name="Google Shape;367;p8"/>
          <p:cNvCxnSpPr/>
          <p:nvPr/>
        </p:nvCxnSpPr>
        <p:spPr>
          <a:xfrm>
            <a:off x="548640" y="5184648"/>
            <a:ext cx="475488" cy="0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8" name="Google Shape;368;p8"/>
          <p:cNvCxnSpPr/>
          <p:nvPr/>
        </p:nvCxnSpPr>
        <p:spPr>
          <a:xfrm flipH="1">
            <a:off x="576072" y="538581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69" name="Google Shape;369;p8"/>
          <p:cNvCxnSpPr/>
          <p:nvPr/>
        </p:nvCxnSpPr>
        <p:spPr>
          <a:xfrm>
            <a:off x="786384" y="5385816"/>
            <a:ext cx="210312" cy="219456"/>
          </a:xfrm>
          <a:prstGeom prst="straightConnector1">
            <a:avLst/>
          </a:prstGeom>
          <a:noFill/>
          <a:ln cap="flat" cmpd="sng" w="19050">
            <a:solidFill>
              <a:srgbClr val="FAF7F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370" name="Google Shape;370;p8"/>
          <p:cNvSpPr txBox="1"/>
          <p:nvPr/>
        </p:nvSpPr>
        <p:spPr>
          <a:xfrm>
            <a:off x="1143000" y="50474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/>
          </a:p>
        </p:txBody>
      </p:sp>
      <p:sp>
        <p:nvSpPr>
          <p:cNvPr id="371" name="Google Shape;371;p8"/>
          <p:cNvSpPr/>
          <p:nvPr/>
        </p:nvSpPr>
        <p:spPr>
          <a:xfrm>
            <a:off x="3246120" y="2468880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8"/>
          <p:cNvSpPr txBox="1"/>
          <p:nvPr/>
        </p:nvSpPr>
        <p:spPr>
          <a:xfrm>
            <a:off x="3319272" y="2542032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Planificar evento</a:t>
            </a:r>
            <a:endParaRPr/>
          </a:p>
        </p:txBody>
      </p:sp>
      <p:sp>
        <p:nvSpPr>
          <p:cNvPr id="373" name="Google Shape;373;p8"/>
          <p:cNvSpPr/>
          <p:nvPr/>
        </p:nvSpPr>
        <p:spPr>
          <a:xfrm>
            <a:off x="5577840" y="2468880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8"/>
          <p:cNvSpPr txBox="1"/>
          <p:nvPr/>
        </p:nvSpPr>
        <p:spPr>
          <a:xfrm>
            <a:off x="5650992" y="2542032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Comparar servicios</a:t>
            </a:r>
            <a:endParaRPr/>
          </a:p>
        </p:txBody>
      </p:sp>
      <p:sp>
        <p:nvSpPr>
          <p:cNvPr id="375" name="Google Shape;375;p8"/>
          <p:cNvSpPr/>
          <p:nvPr/>
        </p:nvSpPr>
        <p:spPr>
          <a:xfrm>
            <a:off x="7909560" y="2468880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8"/>
          <p:cNvSpPr txBox="1"/>
          <p:nvPr/>
        </p:nvSpPr>
        <p:spPr>
          <a:xfrm>
            <a:off x="7982712" y="2542032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Solicitar reserva</a:t>
            </a:r>
            <a:endParaRPr/>
          </a:p>
        </p:txBody>
      </p:sp>
      <p:sp>
        <p:nvSpPr>
          <p:cNvPr id="377" name="Google Shape;377;p8"/>
          <p:cNvSpPr/>
          <p:nvPr/>
        </p:nvSpPr>
        <p:spPr>
          <a:xfrm>
            <a:off x="3246120" y="3621024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8"/>
          <p:cNvSpPr txBox="1"/>
          <p:nvPr/>
        </p:nvSpPr>
        <p:spPr>
          <a:xfrm>
            <a:off x="3319272" y="3694176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Publicar servicios</a:t>
            </a:r>
            <a:endParaRPr/>
          </a:p>
        </p:txBody>
      </p:sp>
      <p:sp>
        <p:nvSpPr>
          <p:cNvPr id="379" name="Google Shape;379;p8"/>
          <p:cNvSpPr/>
          <p:nvPr/>
        </p:nvSpPr>
        <p:spPr>
          <a:xfrm>
            <a:off x="5577840" y="3621024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8"/>
          <p:cNvSpPr txBox="1"/>
          <p:nvPr/>
        </p:nvSpPr>
        <p:spPr>
          <a:xfrm>
            <a:off x="5650992" y="3694176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Gestionar agenda</a:t>
            </a:r>
            <a:endParaRPr/>
          </a:p>
        </p:txBody>
      </p:sp>
      <p:sp>
        <p:nvSpPr>
          <p:cNvPr id="381" name="Google Shape;381;p8"/>
          <p:cNvSpPr/>
          <p:nvPr/>
        </p:nvSpPr>
        <p:spPr>
          <a:xfrm>
            <a:off x="7909560" y="3621024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8"/>
          <p:cNvSpPr txBox="1"/>
          <p:nvPr/>
        </p:nvSpPr>
        <p:spPr>
          <a:xfrm>
            <a:off x="7982712" y="3694176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Responder solicitud</a:t>
            </a:r>
            <a:endParaRPr/>
          </a:p>
        </p:txBody>
      </p:sp>
      <p:sp>
        <p:nvSpPr>
          <p:cNvPr id="383" name="Google Shape;383;p8"/>
          <p:cNvSpPr/>
          <p:nvPr/>
        </p:nvSpPr>
        <p:spPr>
          <a:xfrm>
            <a:off x="3931920" y="4773168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8"/>
          <p:cNvSpPr txBox="1"/>
          <p:nvPr/>
        </p:nvSpPr>
        <p:spPr>
          <a:xfrm>
            <a:off x="4005072" y="4846320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Supervisar reservas</a:t>
            </a:r>
            <a:endParaRPr/>
          </a:p>
        </p:txBody>
      </p:sp>
      <p:sp>
        <p:nvSpPr>
          <p:cNvPr id="385" name="Google Shape;385;p8"/>
          <p:cNvSpPr/>
          <p:nvPr/>
        </p:nvSpPr>
        <p:spPr>
          <a:xfrm>
            <a:off x="6720840" y="4773168"/>
            <a:ext cx="1920240" cy="530352"/>
          </a:xfrm>
          <a:prstGeom prst="ellipse">
            <a:avLst/>
          </a:prstGeom>
          <a:solidFill>
            <a:srgbClr val="281F1C"/>
          </a:solidFill>
          <a:ln cap="flat" cmpd="sng" w="9525">
            <a:solidFill>
              <a:srgbClr val="F4510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8"/>
          <p:cNvSpPr txBox="1"/>
          <p:nvPr/>
        </p:nvSpPr>
        <p:spPr>
          <a:xfrm>
            <a:off x="6793992" y="4846320"/>
            <a:ext cx="1773936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Gestionar incidencias</a:t>
            </a:r>
            <a:endParaRPr/>
          </a:p>
        </p:txBody>
      </p:sp>
      <p:cxnSp>
        <p:nvCxnSpPr>
          <p:cNvPr id="387" name="Google Shape;387;p8"/>
          <p:cNvCxnSpPr/>
          <p:nvPr/>
        </p:nvCxnSpPr>
        <p:spPr>
          <a:xfrm flipH="1" rot="10800000">
            <a:off x="2450592" y="2331720"/>
            <a:ext cx="384048" cy="475488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8" name="Google Shape;388;p8"/>
          <p:cNvCxnSpPr/>
          <p:nvPr/>
        </p:nvCxnSpPr>
        <p:spPr>
          <a:xfrm>
            <a:off x="2834640" y="2331720"/>
            <a:ext cx="6035040" cy="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89" name="Google Shape;389;p8"/>
          <p:cNvCxnSpPr/>
          <p:nvPr/>
        </p:nvCxnSpPr>
        <p:spPr>
          <a:xfrm>
            <a:off x="4206240" y="2331720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0" name="Google Shape;390;p8"/>
          <p:cNvCxnSpPr/>
          <p:nvPr/>
        </p:nvCxnSpPr>
        <p:spPr>
          <a:xfrm>
            <a:off x="6537960" y="2331720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1" name="Google Shape;391;p8"/>
          <p:cNvCxnSpPr/>
          <p:nvPr/>
        </p:nvCxnSpPr>
        <p:spPr>
          <a:xfrm>
            <a:off x="8869680" y="2331720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2" name="Google Shape;392;p8"/>
          <p:cNvCxnSpPr/>
          <p:nvPr/>
        </p:nvCxnSpPr>
        <p:spPr>
          <a:xfrm flipH="1" rot="10800000">
            <a:off x="2450592" y="3483864"/>
            <a:ext cx="384048" cy="512064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3" name="Google Shape;393;p8"/>
          <p:cNvCxnSpPr/>
          <p:nvPr/>
        </p:nvCxnSpPr>
        <p:spPr>
          <a:xfrm>
            <a:off x="2834640" y="3483864"/>
            <a:ext cx="6035040" cy="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4" name="Google Shape;394;p8"/>
          <p:cNvCxnSpPr/>
          <p:nvPr/>
        </p:nvCxnSpPr>
        <p:spPr>
          <a:xfrm>
            <a:off x="4206240" y="3483864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5" name="Google Shape;395;p8"/>
          <p:cNvCxnSpPr/>
          <p:nvPr/>
        </p:nvCxnSpPr>
        <p:spPr>
          <a:xfrm>
            <a:off x="6537960" y="3483864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6" name="Google Shape;396;p8"/>
          <p:cNvCxnSpPr/>
          <p:nvPr/>
        </p:nvCxnSpPr>
        <p:spPr>
          <a:xfrm>
            <a:off x="8869680" y="3483864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7" name="Google Shape;397;p8"/>
          <p:cNvCxnSpPr/>
          <p:nvPr/>
        </p:nvCxnSpPr>
        <p:spPr>
          <a:xfrm flipH="1" rot="10800000">
            <a:off x="2450592" y="4636008"/>
            <a:ext cx="384048" cy="54864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8" name="Google Shape;398;p8"/>
          <p:cNvCxnSpPr/>
          <p:nvPr/>
        </p:nvCxnSpPr>
        <p:spPr>
          <a:xfrm>
            <a:off x="2834640" y="4636008"/>
            <a:ext cx="4846320" cy="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399" name="Google Shape;399;p8"/>
          <p:cNvCxnSpPr/>
          <p:nvPr/>
        </p:nvCxnSpPr>
        <p:spPr>
          <a:xfrm>
            <a:off x="4892040" y="4636008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400" name="Google Shape;400;p8"/>
          <p:cNvCxnSpPr/>
          <p:nvPr/>
        </p:nvCxnSpPr>
        <p:spPr>
          <a:xfrm>
            <a:off x="7680960" y="4636008"/>
            <a:ext cx="0" cy="137160"/>
          </a:xfrm>
          <a:prstGeom prst="straightConnector1">
            <a:avLst/>
          </a:prstGeom>
          <a:noFill/>
          <a:ln cap="flat" cmpd="sng" w="13950">
            <a:solidFill>
              <a:srgbClr val="BCB3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405" name="Google Shape;405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6" name="Google Shape;406;p10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 txBox="1"/>
          <p:nvPr/>
        </p:nvSpPr>
        <p:spPr>
          <a:xfrm>
            <a:off x="566928" y="941832"/>
            <a:ext cx="1088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Tecnologías del desarrollo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0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365735" y="1938541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 txBox="1"/>
          <p:nvPr/>
        </p:nvSpPr>
        <p:spPr>
          <a:xfrm>
            <a:off x="594335" y="4736950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3310128" y="1938528"/>
            <a:ext cx="2395728" cy="269748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 txBox="1"/>
          <p:nvPr/>
        </p:nvSpPr>
        <p:spPr>
          <a:xfrm>
            <a:off x="3538678" y="4736875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Datos y 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 txBox="1"/>
          <p:nvPr/>
        </p:nvSpPr>
        <p:spPr>
          <a:xfrm>
            <a:off x="3588566" y="4121212"/>
            <a:ext cx="1938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b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RLS + OAuth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6354196" y="1938566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5A8DE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 txBox="1"/>
          <p:nvPr/>
        </p:nvSpPr>
        <p:spPr>
          <a:xfrm>
            <a:off x="6582796" y="4736963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Integraciones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9398264" y="1938566"/>
            <a:ext cx="2395800" cy="269760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5875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 txBox="1"/>
          <p:nvPr/>
        </p:nvSpPr>
        <p:spPr>
          <a:xfrm>
            <a:off x="9626914" y="4736963"/>
            <a:ext cx="1938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 txBox="1"/>
          <p:nvPr/>
        </p:nvSpPr>
        <p:spPr>
          <a:xfrm>
            <a:off x="621792" y="5084064"/>
            <a:ext cx="10424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Arquitectura: Next.js y React · PostgreSQL/Supabase · Transbank · Git y Vercel.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2" name="Google Shape;422;p10" title="typescript-logo_brandlogos.net_hg0qh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6675" y="2298937"/>
            <a:ext cx="1098875" cy="1098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0" title="React_(web_framework)-Logo.wine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8950" y="3400376"/>
            <a:ext cx="1737349" cy="115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0" title="nextjs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672675" y="2353823"/>
            <a:ext cx="989100" cy="9890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0" title="PostgreSQL-Logo.wine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888901" y="2019138"/>
            <a:ext cx="2240302" cy="149317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10" title="supabase-logo-icon.png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402754" y="2989550"/>
            <a:ext cx="1124421" cy="115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10" title="groq-logo.png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801688" y="3821812"/>
            <a:ext cx="1500762" cy="54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8" name="Google Shape;428;p10" title="manual-logo-transbank.png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31901" y="3249050"/>
            <a:ext cx="2240302" cy="359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0" title="68089633-dfed3800-fe38-11e9-893e-4efd59306bdd.png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577025" y="2394975"/>
            <a:ext cx="989100" cy="98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0" title="images.png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701062" y="2456475"/>
            <a:ext cx="866088" cy="866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0" title="node-js-logo-png_seeklogo-269242.png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727500" y="3108988"/>
            <a:ext cx="1737350" cy="173735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10"/>
          <p:cNvSpPr txBox="1"/>
          <p:nvPr/>
        </p:nvSpPr>
        <p:spPr>
          <a:xfrm>
            <a:off x="713232" y="5815584"/>
            <a:ext cx="10469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Método aplicado: entregas iterativas por módulo · seguimiento en minutas · control de cambios en Git · pruebas de regresión.</a:t>
            </a:r>
            <a:endParaRPr/>
          </a:p>
        </p:txBody>
      </p:sp>
      <p:pic>
        <p:nvPicPr>
          <p:cNvPr id="433" name="Google Shape;433;p10" title="favicon@180x180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002625" y="2009350"/>
            <a:ext cx="1098875" cy="109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438" name="Google Shape;43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12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12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2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Estimación de riesgos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2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2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2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5" name="Google Shape;445;p12"/>
          <p:cNvGraphicFramePr/>
          <p:nvPr/>
        </p:nvGraphicFramePr>
        <p:xfrm>
          <a:off x="658368" y="193852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{36C337F4-6623-4CEE-A71D-9F2492B31899}</a:tableStyleId>
              </a:tblPr>
              <a:tblGrid>
                <a:gridCol w="3063250"/>
                <a:gridCol w="502925"/>
                <a:gridCol w="502925"/>
                <a:gridCol w="470915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Riesgo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1" lang="en-US" sz="950" u="none" cap="none" strike="noStrike">
                          <a:solidFill>
                            <a:srgbClr val="100D0C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Respuesta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FF5A1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Crecimiento no controlado del alcance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Priorización y control formal de cambios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Retrasos respecto de la Carta Gantt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Seguimiento semanal y redistribución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Errores de integración o datos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Versionado, pruebas y respaldos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Límites de servicios externos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Monitorear cuotas y alternativas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Defectos cercanos a la entrega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Pruebas tempranas y corrección priorizada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251E1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Desviación del presupuesto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950"/>
                        <a:buFont typeface="Arial"/>
                        <a:buNone/>
                      </a:pPr>
                      <a:r>
                        <a:rPr b="0" lang="en-US" sz="950" u="none" cap="none" strike="noStrike">
                          <a:solidFill>
                            <a:srgbClr val="FFF8F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Control por hitos y contingencia</a:t>
                      </a:r>
                      <a:endParaRPr sz="1400" u="none" cap="none" strike="noStrike"/>
                    </a:p>
                  </a:txBody>
                  <a:tcPr marT="36575" marB="36575" marR="73150" marL="73150">
                    <a:solidFill>
                      <a:srgbClr val="1B1715"/>
                    </a:solidFill>
                  </a:tcPr>
                </a:tc>
              </a:tr>
            </a:tbl>
          </a:graphicData>
        </a:graphic>
      </p:graphicFrame>
      <p:sp>
        <p:nvSpPr>
          <p:cNvPr id="446" name="Google Shape;446;p12"/>
          <p:cNvSpPr txBox="1"/>
          <p:nvPr/>
        </p:nvSpPr>
        <p:spPr>
          <a:xfrm>
            <a:off x="9765792" y="2011680"/>
            <a:ext cx="12618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CRITICIDAD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2"/>
          <p:cNvSpPr/>
          <p:nvPr/>
        </p:nvSpPr>
        <p:spPr>
          <a:xfrm>
            <a:off x="9765792" y="2542032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 cap="flat" cmpd="sng" w="10150">
            <a:solidFill>
              <a:srgbClr val="F0525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ALTA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12"/>
          <p:cNvSpPr/>
          <p:nvPr/>
        </p:nvSpPr>
        <p:spPr>
          <a:xfrm>
            <a:off x="9765792" y="3255263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 cap="flat" cmpd="sng" w="10150">
            <a:solidFill>
              <a:srgbClr val="F3B5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9" name="Google Shape;449;p12"/>
          <p:cNvSpPr/>
          <p:nvPr/>
        </p:nvSpPr>
        <p:spPr>
          <a:xfrm>
            <a:off x="9765792" y="3968496"/>
            <a:ext cx="1261872" cy="384048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 cap="flat" cmpd="sng" w="10150">
            <a:solidFill>
              <a:srgbClr val="39C77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BAJA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2"/>
          <p:cNvSpPr txBox="1"/>
          <p:nvPr/>
        </p:nvSpPr>
        <p:spPr>
          <a:xfrm>
            <a:off x="9601200" y="4892040"/>
            <a:ext cx="1572768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 = probabilidad</a:t>
            </a:r>
            <a:b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9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I = impacto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455" name="Google Shape;4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13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3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CARTA GANTT · 18 SEMANAS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13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9" name="Google Shape;459;p13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3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3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3"/>
          <p:cNvSpPr txBox="1"/>
          <p:nvPr/>
        </p:nvSpPr>
        <p:spPr>
          <a:xfrm>
            <a:off x="310896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" name="Google Shape;463;p13"/>
          <p:cNvCxnSpPr/>
          <p:nvPr/>
        </p:nvCxnSpPr>
        <p:spPr>
          <a:xfrm>
            <a:off x="310896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4" name="Google Shape;464;p13"/>
          <p:cNvSpPr txBox="1"/>
          <p:nvPr/>
        </p:nvSpPr>
        <p:spPr>
          <a:xfrm>
            <a:off x="3551935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5" name="Google Shape;465;p13"/>
          <p:cNvCxnSpPr/>
          <p:nvPr/>
        </p:nvCxnSpPr>
        <p:spPr>
          <a:xfrm>
            <a:off x="3551935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6" name="Google Shape;466;p13"/>
          <p:cNvSpPr txBox="1"/>
          <p:nvPr/>
        </p:nvSpPr>
        <p:spPr>
          <a:xfrm>
            <a:off x="399491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7" name="Google Shape;467;p13"/>
          <p:cNvCxnSpPr/>
          <p:nvPr/>
        </p:nvCxnSpPr>
        <p:spPr>
          <a:xfrm>
            <a:off x="399491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68" name="Google Shape;468;p13"/>
          <p:cNvSpPr txBox="1"/>
          <p:nvPr/>
        </p:nvSpPr>
        <p:spPr>
          <a:xfrm>
            <a:off x="443788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13"/>
          <p:cNvCxnSpPr/>
          <p:nvPr/>
        </p:nvCxnSpPr>
        <p:spPr>
          <a:xfrm>
            <a:off x="443788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0" name="Google Shape;470;p13"/>
          <p:cNvSpPr txBox="1"/>
          <p:nvPr/>
        </p:nvSpPr>
        <p:spPr>
          <a:xfrm>
            <a:off x="488086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13"/>
          <p:cNvCxnSpPr/>
          <p:nvPr/>
        </p:nvCxnSpPr>
        <p:spPr>
          <a:xfrm>
            <a:off x="488086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2" name="Google Shape;472;p13"/>
          <p:cNvSpPr txBox="1"/>
          <p:nvPr/>
        </p:nvSpPr>
        <p:spPr>
          <a:xfrm>
            <a:off x="532384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13"/>
          <p:cNvCxnSpPr/>
          <p:nvPr/>
        </p:nvCxnSpPr>
        <p:spPr>
          <a:xfrm>
            <a:off x="532384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4" name="Google Shape;474;p13"/>
          <p:cNvSpPr txBox="1"/>
          <p:nvPr/>
        </p:nvSpPr>
        <p:spPr>
          <a:xfrm>
            <a:off x="576681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5" name="Google Shape;475;p13"/>
          <p:cNvCxnSpPr/>
          <p:nvPr/>
        </p:nvCxnSpPr>
        <p:spPr>
          <a:xfrm>
            <a:off x="576681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6" name="Google Shape;476;p13"/>
          <p:cNvSpPr txBox="1"/>
          <p:nvPr/>
        </p:nvSpPr>
        <p:spPr>
          <a:xfrm>
            <a:off x="6209791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7" name="Google Shape;477;p13"/>
          <p:cNvCxnSpPr/>
          <p:nvPr/>
        </p:nvCxnSpPr>
        <p:spPr>
          <a:xfrm>
            <a:off x="6209791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78" name="Google Shape;478;p13"/>
          <p:cNvSpPr txBox="1"/>
          <p:nvPr/>
        </p:nvSpPr>
        <p:spPr>
          <a:xfrm>
            <a:off x="665276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9" name="Google Shape;479;p13"/>
          <p:cNvCxnSpPr/>
          <p:nvPr/>
        </p:nvCxnSpPr>
        <p:spPr>
          <a:xfrm>
            <a:off x="665276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0" name="Google Shape;480;p13"/>
          <p:cNvSpPr txBox="1"/>
          <p:nvPr/>
        </p:nvSpPr>
        <p:spPr>
          <a:xfrm>
            <a:off x="709574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1" name="Google Shape;481;p13"/>
          <p:cNvCxnSpPr/>
          <p:nvPr/>
        </p:nvCxnSpPr>
        <p:spPr>
          <a:xfrm>
            <a:off x="709574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2" name="Google Shape;482;p13"/>
          <p:cNvSpPr txBox="1"/>
          <p:nvPr/>
        </p:nvSpPr>
        <p:spPr>
          <a:xfrm>
            <a:off x="753872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3" name="Google Shape;483;p13"/>
          <p:cNvCxnSpPr/>
          <p:nvPr/>
        </p:nvCxnSpPr>
        <p:spPr>
          <a:xfrm>
            <a:off x="753872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4" name="Google Shape;484;p13"/>
          <p:cNvSpPr txBox="1"/>
          <p:nvPr/>
        </p:nvSpPr>
        <p:spPr>
          <a:xfrm>
            <a:off x="798169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13"/>
          <p:cNvCxnSpPr/>
          <p:nvPr/>
        </p:nvCxnSpPr>
        <p:spPr>
          <a:xfrm>
            <a:off x="798169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6" name="Google Shape;486;p13"/>
          <p:cNvSpPr txBox="1"/>
          <p:nvPr/>
        </p:nvSpPr>
        <p:spPr>
          <a:xfrm>
            <a:off x="842467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7" name="Google Shape;487;p13"/>
          <p:cNvCxnSpPr/>
          <p:nvPr/>
        </p:nvCxnSpPr>
        <p:spPr>
          <a:xfrm>
            <a:off x="842467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88" name="Google Shape;488;p13"/>
          <p:cNvSpPr txBox="1"/>
          <p:nvPr/>
        </p:nvSpPr>
        <p:spPr>
          <a:xfrm>
            <a:off x="8867648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9" name="Google Shape;489;p13"/>
          <p:cNvCxnSpPr/>
          <p:nvPr/>
        </p:nvCxnSpPr>
        <p:spPr>
          <a:xfrm>
            <a:off x="8867648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0" name="Google Shape;490;p13"/>
          <p:cNvSpPr txBox="1"/>
          <p:nvPr/>
        </p:nvSpPr>
        <p:spPr>
          <a:xfrm>
            <a:off x="9310624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13"/>
          <p:cNvCxnSpPr/>
          <p:nvPr/>
        </p:nvCxnSpPr>
        <p:spPr>
          <a:xfrm>
            <a:off x="9310624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2" name="Google Shape;492;p13"/>
          <p:cNvSpPr txBox="1"/>
          <p:nvPr/>
        </p:nvSpPr>
        <p:spPr>
          <a:xfrm>
            <a:off x="9753600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3" name="Google Shape;493;p13"/>
          <p:cNvCxnSpPr/>
          <p:nvPr/>
        </p:nvCxnSpPr>
        <p:spPr>
          <a:xfrm>
            <a:off x="9753600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4" name="Google Shape;494;p13"/>
          <p:cNvSpPr txBox="1"/>
          <p:nvPr/>
        </p:nvSpPr>
        <p:spPr>
          <a:xfrm>
            <a:off x="10196576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5" name="Google Shape;495;p13"/>
          <p:cNvCxnSpPr/>
          <p:nvPr/>
        </p:nvCxnSpPr>
        <p:spPr>
          <a:xfrm>
            <a:off x="10196576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6" name="Google Shape;496;p13"/>
          <p:cNvSpPr txBox="1"/>
          <p:nvPr/>
        </p:nvSpPr>
        <p:spPr>
          <a:xfrm>
            <a:off x="10639552" y="1801368"/>
            <a:ext cx="442976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7" name="Google Shape;497;p13"/>
          <p:cNvCxnSpPr/>
          <p:nvPr/>
        </p:nvCxnSpPr>
        <p:spPr>
          <a:xfrm>
            <a:off x="10639552" y="2057400"/>
            <a:ext cx="0" cy="3593592"/>
          </a:xfrm>
          <a:prstGeom prst="straightConnector1">
            <a:avLst/>
          </a:prstGeom>
          <a:noFill/>
          <a:ln cap="flat" cmpd="sng" w="9525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498" name="Google Shape;498;p13"/>
          <p:cNvSpPr txBox="1"/>
          <p:nvPr/>
        </p:nvSpPr>
        <p:spPr>
          <a:xfrm>
            <a:off x="621792" y="215798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Definición y alcance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13"/>
          <p:cNvSpPr/>
          <p:nvPr/>
        </p:nvSpPr>
        <p:spPr>
          <a:xfrm>
            <a:off x="3108960" y="2084831"/>
            <a:ext cx="1771904" cy="34747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3"/>
          <p:cNvSpPr txBox="1"/>
          <p:nvPr/>
        </p:nvSpPr>
        <p:spPr>
          <a:xfrm>
            <a:off x="621792" y="2724912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Análisis y requerimientos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3"/>
          <p:cNvSpPr/>
          <p:nvPr/>
        </p:nvSpPr>
        <p:spPr>
          <a:xfrm>
            <a:off x="3108960" y="2651760"/>
            <a:ext cx="2214880" cy="347472"/>
          </a:xfrm>
          <a:prstGeom prst="roundRect">
            <a:avLst>
              <a:gd fmla="val 16667" name="adj"/>
            </a:avLst>
          </a:prstGeom>
          <a:solidFill>
            <a:srgbClr val="FF8A4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3"/>
          <p:cNvSpPr txBox="1"/>
          <p:nvPr/>
        </p:nvSpPr>
        <p:spPr>
          <a:xfrm>
            <a:off x="621792" y="3291839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y 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13"/>
          <p:cNvSpPr/>
          <p:nvPr/>
        </p:nvSpPr>
        <p:spPr>
          <a:xfrm>
            <a:off x="3994912" y="3218687"/>
            <a:ext cx="2214880" cy="347472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3"/>
          <p:cNvSpPr txBox="1"/>
          <p:nvPr/>
        </p:nvSpPr>
        <p:spPr>
          <a:xfrm>
            <a:off x="621792" y="385876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Construcción e integración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3"/>
          <p:cNvSpPr/>
          <p:nvPr/>
        </p:nvSpPr>
        <p:spPr>
          <a:xfrm>
            <a:off x="4880864" y="3785615"/>
            <a:ext cx="4872736" cy="347472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3"/>
          <p:cNvSpPr txBox="1"/>
          <p:nvPr/>
        </p:nvSpPr>
        <p:spPr>
          <a:xfrm>
            <a:off x="621792" y="4425696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0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Pruebas y correcciones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3"/>
          <p:cNvSpPr/>
          <p:nvPr/>
        </p:nvSpPr>
        <p:spPr>
          <a:xfrm>
            <a:off x="7981696" y="4352544"/>
            <a:ext cx="2657856" cy="347472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3"/>
          <p:cNvSpPr txBox="1"/>
          <p:nvPr/>
        </p:nvSpPr>
        <p:spPr>
          <a:xfrm>
            <a:off x="621792" y="4992624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Cierre y entrega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3"/>
          <p:cNvSpPr/>
          <p:nvPr/>
        </p:nvSpPr>
        <p:spPr>
          <a:xfrm>
            <a:off x="9753600" y="4919472"/>
            <a:ext cx="1328928" cy="347472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0" name="Google Shape;510;p13"/>
          <p:cNvCxnSpPr/>
          <p:nvPr/>
        </p:nvCxnSpPr>
        <p:spPr>
          <a:xfrm>
            <a:off x="4659376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1" name="Google Shape;511;p13"/>
          <p:cNvSpPr/>
          <p:nvPr/>
        </p:nvSpPr>
        <p:spPr>
          <a:xfrm>
            <a:off x="4439920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2" name="Google Shape;512;p13"/>
          <p:cNvCxnSpPr/>
          <p:nvPr/>
        </p:nvCxnSpPr>
        <p:spPr>
          <a:xfrm>
            <a:off x="9532112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3" name="Google Shape;513;p13"/>
          <p:cNvSpPr/>
          <p:nvPr/>
        </p:nvSpPr>
        <p:spPr>
          <a:xfrm>
            <a:off x="9312656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4" name="Google Shape;514;p13"/>
          <p:cNvCxnSpPr/>
          <p:nvPr/>
        </p:nvCxnSpPr>
        <p:spPr>
          <a:xfrm>
            <a:off x="10861040" y="1691640"/>
            <a:ext cx="0" cy="4114800"/>
          </a:xfrm>
          <a:prstGeom prst="straightConnector1">
            <a:avLst/>
          </a:prstGeom>
          <a:noFill/>
          <a:ln cap="flat" cmpd="sng" w="15875">
            <a:solidFill>
              <a:srgbClr val="FF5A1F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515" name="Google Shape;515;p13"/>
          <p:cNvSpPr/>
          <p:nvPr/>
        </p:nvSpPr>
        <p:spPr>
          <a:xfrm>
            <a:off x="10641584" y="5870448"/>
            <a:ext cx="438912" cy="384048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H3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3"/>
          <p:cNvSpPr txBox="1"/>
          <p:nvPr/>
        </p:nvSpPr>
        <p:spPr>
          <a:xfrm>
            <a:off x="640080" y="5943600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Hitos: S4 · S15 · S18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521" name="Google Shape;52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14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4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PRESUPUESTO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4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Resumen de costos estimados del proyecto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4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4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4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4"/>
          <p:cNvSpPr txBox="1"/>
          <p:nvPr/>
        </p:nvSpPr>
        <p:spPr>
          <a:xfrm>
            <a:off x="621792" y="1847088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PRESUPUESTO TOTAL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9" name="Google Shape;529;p14"/>
          <p:cNvSpPr txBox="1"/>
          <p:nvPr/>
        </p:nvSpPr>
        <p:spPr>
          <a:xfrm>
            <a:off x="621792" y="2240280"/>
            <a:ext cx="42976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$40.000.000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0" name="Google Shape;530;p14"/>
          <p:cNvSpPr txBox="1"/>
          <p:nvPr/>
        </p:nvSpPr>
        <p:spPr>
          <a:xfrm>
            <a:off x="658368" y="2962656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CLP · escenario profesional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14"/>
          <p:cNvSpPr txBox="1"/>
          <p:nvPr/>
        </p:nvSpPr>
        <p:spPr>
          <a:xfrm>
            <a:off x="4663440" y="1874519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Recursos humanos y gestión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14"/>
          <p:cNvSpPr/>
          <p:nvPr/>
        </p:nvSpPr>
        <p:spPr>
          <a:xfrm>
            <a:off x="4663440" y="2185415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4"/>
          <p:cNvSpPr/>
          <p:nvPr/>
        </p:nvSpPr>
        <p:spPr>
          <a:xfrm>
            <a:off x="4663440" y="2185415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4"/>
          <p:cNvSpPr txBox="1"/>
          <p:nvPr/>
        </p:nvSpPr>
        <p:spPr>
          <a:xfrm>
            <a:off x="9829800" y="1856231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$28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14"/>
          <p:cNvSpPr txBox="1"/>
          <p:nvPr/>
        </p:nvSpPr>
        <p:spPr>
          <a:xfrm>
            <a:off x="9829800" y="2148839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14"/>
          <p:cNvSpPr txBox="1"/>
          <p:nvPr/>
        </p:nvSpPr>
        <p:spPr>
          <a:xfrm>
            <a:off x="4663440" y="2642615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Infraestructura y servicios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14"/>
          <p:cNvSpPr/>
          <p:nvPr/>
        </p:nvSpPr>
        <p:spPr>
          <a:xfrm>
            <a:off x="4663440" y="2953511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4"/>
          <p:cNvSpPr/>
          <p:nvPr/>
        </p:nvSpPr>
        <p:spPr>
          <a:xfrm>
            <a:off x="4663440" y="2953511"/>
            <a:ext cx="705394" cy="210312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4"/>
          <p:cNvSpPr txBox="1"/>
          <p:nvPr/>
        </p:nvSpPr>
        <p:spPr>
          <a:xfrm>
            <a:off x="9829800" y="2624327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5A8DEE"/>
                </a:solidFill>
                <a:latin typeface="Arial"/>
                <a:ea typeface="Arial"/>
                <a:cs typeface="Arial"/>
                <a:sym typeface="Arial"/>
              </a:rPr>
              <a:t>$4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0" name="Google Shape;540;p14"/>
          <p:cNvSpPr txBox="1"/>
          <p:nvPr/>
        </p:nvSpPr>
        <p:spPr>
          <a:xfrm>
            <a:off x="9829800" y="2916935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10%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14"/>
          <p:cNvSpPr txBox="1"/>
          <p:nvPr/>
        </p:nvSpPr>
        <p:spPr>
          <a:xfrm>
            <a:off x="4663440" y="3410711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Diseño UX/UI y QA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14"/>
          <p:cNvSpPr/>
          <p:nvPr/>
        </p:nvSpPr>
        <p:spPr>
          <a:xfrm>
            <a:off x="4663440" y="3721607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4"/>
          <p:cNvSpPr/>
          <p:nvPr/>
        </p:nvSpPr>
        <p:spPr>
          <a:xfrm>
            <a:off x="4663440" y="3721607"/>
            <a:ext cx="529045" cy="210312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14"/>
          <p:cNvSpPr txBox="1"/>
          <p:nvPr/>
        </p:nvSpPr>
        <p:spPr>
          <a:xfrm>
            <a:off x="9829800" y="3392423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9C77A"/>
                </a:solidFill>
                <a:latin typeface="Arial"/>
                <a:ea typeface="Arial"/>
                <a:cs typeface="Arial"/>
                <a:sym typeface="Arial"/>
              </a:rPr>
              <a:t>$3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4"/>
          <p:cNvSpPr txBox="1"/>
          <p:nvPr/>
        </p:nvSpPr>
        <p:spPr>
          <a:xfrm>
            <a:off x="9829800" y="3685031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7,5%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4"/>
          <p:cNvSpPr txBox="1"/>
          <p:nvPr/>
        </p:nvSpPr>
        <p:spPr>
          <a:xfrm>
            <a:off x="4663440" y="4178807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Seguridad y puesta en marcha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4"/>
          <p:cNvSpPr/>
          <p:nvPr/>
        </p:nvSpPr>
        <p:spPr>
          <a:xfrm>
            <a:off x="4663440" y="4489703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4"/>
          <p:cNvSpPr/>
          <p:nvPr/>
        </p:nvSpPr>
        <p:spPr>
          <a:xfrm>
            <a:off x="4663440" y="4489703"/>
            <a:ext cx="352697" cy="210312"/>
          </a:xfrm>
          <a:prstGeom prst="roundRect">
            <a:avLst>
              <a:gd fmla="val 16667" name="adj"/>
            </a:avLst>
          </a:prstGeom>
          <a:solidFill>
            <a:srgbClr val="F3B53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4"/>
          <p:cNvSpPr txBox="1"/>
          <p:nvPr/>
        </p:nvSpPr>
        <p:spPr>
          <a:xfrm>
            <a:off x="9829800" y="4160520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3B53F"/>
                </a:solidFill>
                <a:latin typeface="Arial"/>
                <a:ea typeface="Arial"/>
                <a:cs typeface="Arial"/>
                <a:sym typeface="Arial"/>
              </a:rPr>
              <a:t>$2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4"/>
          <p:cNvSpPr txBox="1"/>
          <p:nvPr/>
        </p:nvSpPr>
        <p:spPr>
          <a:xfrm>
            <a:off x="9829800" y="4453127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4"/>
          <p:cNvSpPr txBox="1"/>
          <p:nvPr/>
        </p:nvSpPr>
        <p:spPr>
          <a:xfrm>
            <a:off x="4663440" y="4946903"/>
            <a:ext cx="3246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Contingencia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4"/>
          <p:cNvSpPr/>
          <p:nvPr/>
        </p:nvSpPr>
        <p:spPr>
          <a:xfrm>
            <a:off x="4663440" y="5257799"/>
            <a:ext cx="4937760" cy="210312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4"/>
          <p:cNvSpPr/>
          <p:nvPr/>
        </p:nvSpPr>
        <p:spPr>
          <a:xfrm>
            <a:off x="4663440" y="5257799"/>
            <a:ext cx="529045" cy="210312"/>
          </a:xfrm>
          <a:prstGeom prst="roundRect">
            <a:avLst>
              <a:gd fmla="val 16667" name="adj"/>
            </a:avLst>
          </a:prstGeom>
          <a:solidFill>
            <a:srgbClr val="F0525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14"/>
          <p:cNvSpPr txBox="1"/>
          <p:nvPr/>
        </p:nvSpPr>
        <p:spPr>
          <a:xfrm>
            <a:off x="9829800" y="4928616"/>
            <a:ext cx="1188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F05252"/>
                </a:solidFill>
                <a:latin typeface="Arial"/>
                <a:ea typeface="Arial"/>
                <a:cs typeface="Arial"/>
                <a:sym typeface="Arial"/>
              </a:rPr>
              <a:t>$3 MM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4"/>
          <p:cNvSpPr txBox="1"/>
          <p:nvPr/>
        </p:nvSpPr>
        <p:spPr>
          <a:xfrm>
            <a:off x="9829800" y="5221223"/>
            <a:ext cx="1188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7,5%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4"/>
          <p:cNvSpPr/>
          <p:nvPr/>
        </p:nvSpPr>
        <p:spPr>
          <a:xfrm>
            <a:off x="621792" y="3886200"/>
            <a:ext cx="3429000" cy="132588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4"/>
          <p:cNvSpPr txBox="1"/>
          <p:nvPr/>
        </p:nvSpPr>
        <p:spPr>
          <a:xfrm>
            <a:off x="868680" y="4187952"/>
            <a:ext cx="292608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Control por hitos</a:t>
            </a:r>
            <a:b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+ reserva de contingencia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8" name="Google Shape;558;p14"/>
          <p:cNvSpPr txBox="1"/>
          <p:nvPr/>
        </p:nvSpPr>
        <p:spPr>
          <a:xfrm>
            <a:off x="658368" y="5742432"/>
            <a:ext cx="10241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Toda desviación relevante debe quedar registrada, justificada y aprobada mediante control de cambios.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563" name="Google Shape;563;g3fbc62b8c11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g3fbc62b8c11_0_0"/>
          <p:cNvSpPr txBox="1"/>
          <p:nvPr/>
        </p:nvSpPr>
        <p:spPr>
          <a:xfrm>
            <a:off x="896112" y="356616"/>
            <a:ext cx="146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g3fbc62b8c11_0_0"/>
          <p:cNvSpPr/>
          <p:nvPr/>
        </p:nvSpPr>
        <p:spPr>
          <a:xfrm>
            <a:off x="9281160" y="310896"/>
            <a:ext cx="2240400" cy="384000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DEMO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g3fbc62b8c11_0_0"/>
          <p:cNvSpPr txBox="1"/>
          <p:nvPr/>
        </p:nvSpPr>
        <p:spPr>
          <a:xfrm>
            <a:off x="566928" y="941832"/>
            <a:ext cx="108813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Demo en vivo · del evento a la reserva</a:t>
            </a:r>
            <a:endParaRPr b="1" i="0" sz="2700" u="none" cap="none" strike="noStrike">
              <a:solidFill>
                <a:srgbClr val="FFF8F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g3fbc62b8c11_0_0"/>
          <p:cNvSpPr/>
          <p:nvPr/>
        </p:nvSpPr>
        <p:spPr>
          <a:xfrm>
            <a:off x="566928" y="1572768"/>
            <a:ext cx="658500" cy="50400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g3fbc62b8c11_0_0"/>
          <p:cNvSpPr txBox="1"/>
          <p:nvPr/>
        </p:nvSpPr>
        <p:spPr>
          <a:xfrm>
            <a:off x="566928" y="6510528"/>
            <a:ext cx="41148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g3fbc62b8c11_0_0"/>
          <p:cNvSpPr txBox="1"/>
          <p:nvPr/>
        </p:nvSpPr>
        <p:spPr>
          <a:xfrm>
            <a:off x="11118958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0" name="Google Shape;570;g3fbc62b8c11_0_0"/>
          <p:cNvSpPr/>
          <p:nvPr/>
        </p:nvSpPr>
        <p:spPr>
          <a:xfrm>
            <a:off x="704088" y="2075688"/>
            <a:ext cx="3236976" cy="2267712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g3fbc62b8c11_0_0"/>
          <p:cNvSpPr txBox="1"/>
          <p:nvPr/>
        </p:nvSpPr>
        <p:spPr>
          <a:xfrm>
            <a:off x="886968" y="226771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572" name="Google Shape;572;g3fbc62b8c11_0_0"/>
          <p:cNvSpPr txBox="1"/>
          <p:nvPr/>
        </p:nvSpPr>
        <p:spPr>
          <a:xfrm>
            <a:off x="886968" y="2770632"/>
            <a:ext cx="28620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Cliente planifica</a:t>
            </a:r>
            <a:endParaRPr/>
          </a:p>
        </p:txBody>
      </p:sp>
      <p:sp>
        <p:nvSpPr>
          <p:cNvPr id="573" name="Google Shape;573;g3fbc62b8c11_0_0"/>
          <p:cNvSpPr txBox="1"/>
          <p:nvPr/>
        </p:nvSpPr>
        <p:spPr>
          <a:xfrm>
            <a:off x="886968" y="3273552"/>
            <a:ext cx="28620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Fecha, comuna, invitados y servicios que necesita.</a:t>
            </a:r>
            <a:endParaRPr/>
          </a:p>
        </p:txBody>
      </p:sp>
      <p:sp>
        <p:nvSpPr>
          <p:cNvPr id="574" name="Google Shape;574;g3fbc62b8c11_0_0"/>
          <p:cNvSpPr/>
          <p:nvPr/>
        </p:nvSpPr>
        <p:spPr>
          <a:xfrm>
            <a:off x="4270248" y="2075688"/>
            <a:ext cx="3236976" cy="2267712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g3fbc62b8c11_0_0"/>
          <p:cNvSpPr txBox="1"/>
          <p:nvPr/>
        </p:nvSpPr>
        <p:spPr>
          <a:xfrm>
            <a:off x="4453128" y="226771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576" name="Google Shape;576;g3fbc62b8c11_0_0"/>
          <p:cNvSpPr txBox="1"/>
          <p:nvPr/>
        </p:nvSpPr>
        <p:spPr>
          <a:xfrm>
            <a:off x="4453128" y="2770632"/>
            <a:ext cx="28620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Brasa valida</a:t>
            </a:r>
            <a:endParaRPr/>
          </a:p>
        </p:txBody>
      </p:sp>
      <p:sp>
        <p:nvSpPr>
          <p:cNvPr id="577" name="Google Shape;577;g3fbc62b8c11_0_0"/>
          <p:cNvSpPr txBox="1"/>
          <p:nvPr/>
        </p:nvSpPr>
        <p:spPr>
          <a:xfrm>
            <a:off x="4453128" y="3273552"/>
            <a:ext cx="28620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Precio, cobertura y horarios compatibles.</a:t>
            </a:r>
            <a:endParaRPr/>
          </a:p>
        </p:txBody>
      </p:sp>
      <p:sp>
        <p:nvSpPr>
          <p:cNvPr id="578" name="Google Shape;578;g3fbc62b8c11_0_0"/>
          <p:cNvSpPr/>
          <p:nvPr/>
        </p:nvSpPr>
        <p:spPr>
          <a:xfrm>
            <a:off x="7836408" y="2075688"/>
            <a:ext cx="3236976" cy="2267712"/>
          </a:xfrm>
          <a:prstGeom prst="roundRect">
            <a:avLst>
              <a:gd fmla="val 16667" name="adj"/>
            </a:avLst>
          </a:prstGeom>
          <a:solidFill>
            <a:srgbClr val="281F1C"/>
          </a:solidFill>
          <a:ln cap="flat" cmpd="sng" w="12700">
            <a:solidFill>
              <a:srgbClr val="5D48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9" name="Google Shape;579;g3fbc62b8c11_0_0"/>
          <p:cNvSpPr txBox="1"/>
          <p:nvPr/>
        </p:nvSpPr>
        <p:spPr>
          <a:xfrm>
            <a:off x="8019288" y="2267712"/>
            <a:ext cx="6400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580" name="Google Shape;580;g3fbc62b8c11_0_0"/>
          <p:cNvSpPr txBox="1"/>
          <p:nvPr/>
        </p:nvSpPr>
        <p:spPr>
          <a:xfrm>
            <a:off x="8019288" y="2770632"/>
            <a:ext cx="28620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Se confirma</a:t>
            </a:r>
            <a:endParaRPr/>
          </a:p>
        </p:txBody>
      </p:sp>
      <p:sp>
        <p:nvSpPr>
          <p:cNvPr id="581" name="Google Shape;581;g3fbc62b8c11_0_0"/>
          <p:cNvSpPr txBox="1"/>
          <p:nvPr/>
        </p:nvSpPr>
        <p:spPr>
          <a:xfrm>
            <a:off x="8019288" y="3273552"/>
            <a:ext cx="2862072" cy="859536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CB3AC"/>
                </a:solidFill>
                <a:latin typeface="Arial"/>
                <a:ea typeface="Arial"/>
                <a:cs typeface="Arial"/>
                <a:sym typeface="Arial"/>
              </a:rPr>
              <a:t>Prestador acepta; cliente paga y recibe confirmación.</a:t>
            </a:r>
            <a:endParaRPr/>
          </a:p>
        </p:txBody>
      </p:sp>
      <p:sp>
        <p:nvSpPr>
          <p:cNvPr id="582" name="Google Shape;582;g3fbc62b8c11_0_0"/>
          <p:cNvSpPr txBox="1"/>
          <p:nvPr/>
        </p:nvSpPr>
        <p:spPr>
          <a:xfrm>
            <a:off x="960120" y="4754880"/>
            <a:ext cx="10241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AF7F5"/>
                </a:solidFill>
                <a:latin typeface="Arial"/>
                <a:ea typeface="Arial"/>
                <a:cs typeface="Arial"/>
                <a:sym typeface="Arial"/>
              </a:rPr>
              <a:t>Resultado: una reserva trazable para cliente, prestador y administración.</a:t>
            </a:r>
            <a:endParaRPr/>
          </a:p>
        </p:txBody>
      </p:sp>
      <p:sp>
        <p:nvSpPr>
          <p:cNvPr id="583" name="Google Shape;583;g3fbc62b8c11_0_0">
            <a:hlinkClick r:id="rId4"/>
          </p:cNvPr>
          <p:cNvSpPr txBox="1"/>
          <p:nvPr/>
        </p:nvSpPr>
        <p:spPr>
          <a:xfrm>
            <a:off x="3383280" y="5358384"/>
            <a:ext cx="5449824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75" lIns="36575" spcFirstLastPara="1" rIns="36575" wrap="square" tIns="365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4510B"/>
                </a:solidFill>
                <a:latin typeface="Arial"/>
                <a:ea typeface="Arial"/>
                <a:cs typeface="Arial"/>
                <a:sym typeface="Arial"/>
              </a:rPr>
              <a:t>brasa-eventos.vercel.app · acceso a la demo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0D0C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rasa-meta-icon-1024.png" id="588" name="Google Shape;58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5488" y="310896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15"/>
          <p:cNvSpPr txBox="1"/>
          <p:nvPr/>
        </p:nvSpPr>
        <p:spPr>
          <a:xfrm>
            <a:off x="896112" y="3566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0" name="Google Shape;590;p15"/>
          <p:cNvSpPr/>
          <p:nvPr/>
        </p:nvSpPr>
        <p:spPr>
          <a:xfrm>
            <a:off x="9281160" y="310896"/>
            <a:ext cx="2240280" cy="384048"/>
          </a:xfrm>
          <a:prstGeom prst="roundRect">
            <a:avLst>
              <a:gd fmla="val 16667" name="adj"/>
            </a:avLst>
          </a:prstGeom>
          <a:solidFill>
            <a:srgbClr val="251E1A"/>
          </a:solidFill>
          <a:ln cap="flat" cmpd="sng" w="10150">
            <a:solidFill>
              <a:srgbClr val="FF5A1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73150" spcFirstLastPara="1" rIns="7315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CIERRE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1" name="Google Shape;591;p15"/>
          <p:cNvSpPr txBox="1"/>
          <p:nvPr/>
        </p:nvSpPr>
        <p:spPr>
          <a:xfrm>
            <a:off x="566928" y="941832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Conclusión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2" name="Google Shape;592;p15"/>
          <p:cNvSpPr/>
          <p:nvPr/>
        </p:nvSpPr>
        <p:spPr>
          <a:xfrm>
            <a:off x="566928" y="1572768"/>
            <a:ext cx="658368" cy="50292"/>
          </a:xfrm>
          <a:prstGeom prst="rect">
            <a:avLst/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5"/>
          <p:cNvSpPr txBox="1"/>
          <p:nvPr/>
        </p:nvSpPr>
        <p:spPr>
          <a:xfrm>
            <a:off x="566928" y="6510528"/>
            <a:ext cx="41148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CAPSTONE · INGENIERÍA INFORMÁTICA · FASE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4" name="Google Shape;594;p15"/>
          <p:cNvSpPr txBox="1"/>
          <p:nvPr/>
        </p:nvSpPr>
        <p:spPr>
          <a:xfrm>
            <a:off x="11064240" y="6464808"/>
            <a:ext cx="5028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5A1F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FF5A1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1" lang="en-US" sz="900">
                <a:solidFill>
                  <a:srgbClr val="FF5A1F"/>
                </a:solidFill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15"/>
          <p:cNvSpPr txBox="1"/>
          <p:nvPr/>
        </p:nvSpPr>
        <p:spPr>
          <a:xfrm>
            <a:off x="621800" y="1847100"/>
            <a:ext cx="6812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Brasa transforma una coordinación dispersa en una experiencia simple y trazable.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6" name="Google Shape;596;p15"/>
          <p:cNvSpPr txBox="1"/>
          <p:nvPr/>
        </p:nvSpPr>
        <p:spPr>
          <a:xfrm>
            <a:off x="621792" y="2801985"/>
            <a:ext cx="6583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La solución permite que clientes y prestadores se encuentren, comparen alternativas y coordinen servicios con información clara y centralizada.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7" name="Google Shape;597;p15"/>
          <p:cNvSpPr/>
          <p:nvPr/>
        </p:nvSpPr>
        <p:spPr>
          <a:xfrm>
            <a:off x="62179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5"/>
          <p:cNvSpPr/>
          <p:nvPr/>
        </p:nvSpPr>
        <p:spPr>
          <a:xfrm>
            <a:off x="78638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15"/>
          <p:cNvSpPr txBox="1"/>
          <p:nvPr/>
        </p:nvSpPr>
        <p:spPr>
          <a:xfrm>
            <a:off x="987552" y="4069080"/>
            <a:ext cx="158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Simplicidad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15"/>
          <p:cNvSpPr txBox="1"/>
          <p:nvPr/>
        </p:nvSpPr>
        <p:spPr>
          <a:xfrm>
            <a:off x="98755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Todo lo necesario para organizar el evento en un solo lugar.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1" name="Google Shape;601;p15"/>
          <p:cNvSpPr/>
          <p:nvPr/>
        </p:nvSpPr>
        <p:spPr>
          <a:xfrm>
            <a:off x="295351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5"/>
          <p:cNvSpPr/>
          <p:nvPr/>
        </p:nvSpPr>
        <p:spPr>
          <a:xfrm>
            <a:off x="311810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39C77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5"/>
          <p:cNvSpPr txBox="1"/>
          <p:nvPr/>
        </p:nvSpPr>
        <p:spPr>
          <a:xfrm>
            <a:off x="3319272" y="4069080"/>
            <a:ext cx="1581912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Confianza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15"/>
          <p:cNvSpPr txBox="1"/>
          <p:nvPr/>
        </p:nvSpPr>
        <p:spPr>
          <a:xfrm>
            <a:off x="331927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Precios, disponibilidad y solicitudes con mayor claridad y trazabilidad.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15"/>
          <p:cNvSpPr/>
          <p:nvPr/>
        </p:nvSpPr>
        <p:spPr>
          <a:xfrm>
            <a:off x="5285232" y="3886200"/>
            <a:ext cx="2148840" cy="1280160"/>
          </a:xfrm>
          <a:prstGeom prst="roundRect">
            <a:avLst>
              <a:gd fmla="val 16667" name="adj"/>
            </a:avLst>
          </a:prstGeom>
          <a:solidFill>
            <a:srgbClr val="1B1715"/>
          </a:solidFill>
          <a:ln cap="flat" cmpd="sng" w="12700">
            <a:solidFill>
              <a:srgbClr val="3A30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5"/>
          <p:cNvSpPr/>
          <p:nvPr/>
        </p:nvSpPr>
        <p:spPr>
          <a:xfrm>
            <a:off x="5449824" y="4050791"/>
            <a:ext cx="73152" cy="950976"/>
          </a:xfrm>
          <a:prstGeom prst="roundRect">
            <a:avLst>
              <a:gd fmla="val 16667" name="adj"/>
            </a:avLst>
          </a:prstGeom>
          <a:solidFill>
            <a:srgbClr val="5A8DEE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5"/>
          <p:cNvSpPr txBox="1"/>
          <p:nvPr/>
        </p:nvSpPr>
        <p:spPr>
          <a:xfrm>
            <a:off x="5650992" y="4069080"/>
            <a:ext cx="15819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8F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8F3"/>
                </a:solidFill>
                <a:latin typeface="Arial"/>
                <a:ea typeface="Arial"/>
                <a:cs typeface="Arial"/>
                <a:sym typeface="Arial"/>
              </a:rPr>
              <a:t>Oportunidad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15"/>
          <p:cNvSpPr txBox="1"/>
          <p:nvPr/>
        </p:nvSpPr>
        <p:spPr>
          <a:xfrm>
            <a:off x="5650992" y="4544568"/>
            <a:ext cx="15546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DAEA6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BDAEA6"/>
                </a:solidFill>
                <a:latin typeface="Arial"/>
                <a:ea typeface="Arial"/>
                <a:cs typeface="Arial"/>
                <a:sym typeface="Arial"/>
              </a:rPr>
              <a:t>Más visibilidad y una gestión más ordenada para los prestadores.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15"/>
          <p:cNvSpPr/>
          <p:nvPr/>
        </p:nvSpPr>
        <p:spPr>
          <a:xfrm>
            <a:off x="8275320" y="1847088"/>
            <a:ext cx="2880360" cy="3319272"/>
          </a:xfrm>
          <a:prstGeom prst="roundRect">
            <a:avLst>
              <a:gd fmla="val 16667" name="adj"/>
            </a:avLst>
          </a:prstGeom>
          <a:solidFill>
            <a:srgbClr val="FF5A1F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5"/>
          <p:cNvSpPr txBox="1"/>
          <p:nvPr/>
        </p:nvSpPr>
        <p:spPr>
          <a:xfrm>
            <a:off x="8641080" y="2331720"/>
            <a:ext cx="2148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BRASA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15"/>
          <p:cNvSpPr txBox="1"/>
          <p:nvPr/>
        </p:nvSpPr>
        <p:spPr>
          <a:xfrm>
            <a:off x="8577072" y="2907792"/>
            <a:ext cx="228600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3100"/>
              <a:buFont typeface="Arial"/>
              <a:buNone/>
            </a:pPr>
            <a:r>
              <a:rPr b="1" i="0" lang="en-US" sz="31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2" name="Google Shape;612;p15"/>
          <p:cNvSpPr txBox="1"/>
          <p:nvPr/>
        </p:nvSpPr>
        <p:spPr>
          <a:xfrm>
            <a:off x="8668512" y="3977639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0D0C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00D0C"/>
                </a:solidFill>
                <a:latin typeface="Arial"/>
                <a:ea typeface="Arial"/>
                <a:cs typeface="Arial"/>
                <a:sym typeface="Arial"/>
              </a:rPr>
              <a:t>¿Preguntas?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